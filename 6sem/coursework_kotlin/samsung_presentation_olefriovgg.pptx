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5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Montserrat" panose="020B0604020202020204" charset="-52"/>
      <p:regular r:id="rId12"/>
      <p:bold r:id="rId13"/>
      <p:italic r:id="rId14"/>
      <p:boldItalic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ixb23fa2aVqSFTeN7eHmIKXQUN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9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5893" autoAdjust="0"/>
  </p:normalViewPr>
  <p:slideViewPr>
    <p:cSldViewPr snapToGrid="0" snapToObjects="1">
      <p:cViewPr varScale="1">
        <p:scale>
          <a:sx n="77" d="100"/>
          <a:sy n="77" d="100"/>
        </p:scale>
        <p:origin x="65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4" name="Google Shape;1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bg>
      <p:bgPr>
        <a:gradFill>
          <a:gsLst>
            <a:gs pos="0">
              <a:schemeClr val="lt1"/>
            </a:gs>
            <a:gs pos="6000">
              <a:schemeClr val="lt1"/>
            </a:gs>
            <a:gs pos="62000">
              <a:srgbClr val="5DCDFF"/>
            </a:gs>
            <a:gs pos="97000">
              <a:srgbClr val="8C62FF"/>
            </a:gs>
            <a:gs pos="100000">
              <a:srgbClr val="8C62FF"/>
            </a:gs>
          </a:gsLst>
          <a:lin ang="7200000" scaled="0"/>
        </a:gra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1"/>
          <p:cNvPicPr preferRelativeResize="0"/>
          <p:nvPr/>
        </p:nvPicPr>
        <p:blipFill rotWithShape="1">
          <a:blip r:embed="rId2">
            <a:alphaModFix/>
          </a:blip>
          <a:srcRect l="-1" t="5479" r="30930" b="31085"/>
          <a:stretch/>
        </p:blipFill>
        <p:spPr>
          <a:xfrm>
            <a:off x="3323205" y="0"/>
            <a:ext cx="886879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1"/>
          <p:cNvSpPr txBox="1">
            <a:spLocks noGrp="1"/>
          </p:cNvSpPr>
          <p:nvPr>
            <p:ph type="ctrTitle"/>
          </p:nvPr>
        </p:nvSpPr>
        <p:spPr>
          <a:xfrm>
            <a:off x="5520518" y="1406419"/>
            <a:ext cx="5833281" cy="2227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97A"/>
              </a:buClr>
              <a:buSzPts val="6600"/>
              <a:buFont typeface="Arial"/>
              <a:buNone/>
              <a:defRPr sz="6600">
                <a:solidFill>
                  <a:srgbClr val="00497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1"/>
          <p:cNvSpPr txBox="1">
            <a:spLocks noGrp="1"/>
          </p:cNvSpPr>
          <p:nvPr>
            <p:ph type="subTitle" idx="1"/>
          </p:nvPr>
        </p:nvSpPr>
        <p:spPr>
          <a:xfrm>
            <a:off x="5520518" y="3713056"/>
            <a:ext cx="5833281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497A"/>
              </a:buClr>
              <a:buSzPts val="2000"/>
              <a:buNone/>
              <a:defRPr sz="2000">
                <a:solidFill>
                  <a:srgbClr val="00497A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497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497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00497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00497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00497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00497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00497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00497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00497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00497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00497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2" name="Google Shape;22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82200" y="0"/>
            <a:ext cx="2153465" cy="1211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1"/>
          <p:cNvPicPr preferRelativeResize="0"/>
          <p:nvPr/>
        </p:nvPicPr>
        <p:blipFill rotWithShape="1">
          <a:blip r:embed="rId4">
            <a:alphaModFix/>
          </a:blip>
          <a:srcRect l="35371" r="11861"/>
          <a:stretch/>
        </p:blipFill>
        <p:spPr>
          <a:xfrm>
            <a:off x="645730" y="980905"/>
            <a:ext cx="4874788" cy="5196502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1"/>
          <p:cNvSpPr/>
          <p:nvPr/>
        </p:nvSpPr>
        <p:spPr>
          <a:xfrm rot="8100000">
            <a:off x="813790" y="1079081"/>
            <a:ext cx="443552" cy="443552"/>
          </a:xfrm>
          <a:prstGeom prst="rtTriangle">
            <a:avLst/>
          </a:prstGeom>
          <a:noFill/>
          <a:ln w="85725" cap="flat" cmpd="sng">
            <a:solidFill>
              <a:srgbClr val="309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1"/>
          <p:cNvSpPr/>
          <p:nvPr/>
        </p:nvSpPr>
        <p:spPr>
          <a:xfrm rot="8100000">
            <a:off x="724981" y="2206207"/>
            <a:ext cx="627903" cy="627903"/>
          </a:xfrm>
          <a:prstGeom prst="rtTriangle">
            <a:avLst/>
          </a:prstGeom>
          <a:noFill/>
          <a:ln w="85725" cap="flat" cmpd="sng">
            <a:solidFill>
              <a:srgbClr val="309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1"/>
          <p:cNvSpPr/>
          <p:nvPr/>
        </p:nvSpPr>
        <p:spPr>
          <a:xfrm rot="-8100000">
            <a:off x="4246229" y="1668722"/>
            <a:ext cx="627903" cy="627903"/>
          </a:xfrm>
          <a:prstGeom prst="rtTriangle">
            <a:avLst/>
          </a:prstGeom>
          <a:noFill/>
          <a:ln w="85725" cap="flat" cmpd="sng">
            <a:solidFill>
              <a:srgbClr val="309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"/>
          <p:cNvSpPr/>
          <p:nvPr/>
        </p:nvSpPr>
        <p:spPr>
          <a:xfrm rot="-8100000">
            <a:off x="241646" y="5444620"/>
            <a:ext cx="627903" cy="627903"/>
          </a:xfrm>
          <a:prstGeom prst="rtTriangle">
            <a:avLst/>
          </a:prstGeom>
          <a:noFill/>
          <a:ln w="85725" cap="flat" cmpd="sng">
            <a:solidFill>
              <a:srgbClr val="309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1"/>
          <p:cNvSpPr/>
          <p:nvPr/>
        </p:nvSpPr>
        <p:spPr>
          <a:xfrm rot="8100000">
            <a:off x="3490418" y="718813"/>
            <a:ext cx="340269" cy="340269"/>
          </a:xfrm>
          <a:prstGeom prst="rtTriangle">
            <a:avLst/>
          </a:prstGeom>
          <a:noFill/>
          <a:ln w="85725" cap="flat" cmpd="sng">
            <a:solidFill>
              <a:srgbClr val="CC5BA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1"/>
          <p:cNvSpPr/>
          <p:nvPr/>
        </p:nvSpPr>
        <p:spPr>
          <a:xfrm rot="8100000">
            <a:off x="3688713" y="5151587"/>
            <a:ext cx="340269" cy="340269"/>
          </a:xfrm>
          <a:prstGeom prst="rtTriangle">
            <a:avLst/>
          </a:prstGeom>
          <a:noFill/>
          <a:ln w="85725" cap="flat" cmpd="sng">
            <a:solidFill>
              <a:srgbClr val="CC5BA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5853521" y="573125"/>
            <a:ext cx="556958" cy="75216"/>
          </a:xfrm>
          <a:custGeom>
            <a:avLst/>
            <a:gdLst/>
            <a:ahLst/>
            <a:cxnLst/>
            <a:rect l="l" t="t" r="r" b="b"/>
            <a:pathLst>
              <a:path w="2122226" h="286603" extrusionOk="0">
                <a:moveTo>
                  <a:pt x="0" y="286603"/>
                </a:moveTo>
                <a:lnTo>
                  <a:pt x="197892" y="6824"/>
                </a:lnTo>
                <a:lnTo>
                  <a:pt x="470847" y="279779"/>
                </a:lnTo>
                <a:lnTo>
                  <a:pt x="736978" y="13648"/>
                </a:lnTo>
                <a:lnTo>
                  <a:pt x="975814" y="252484"/>
                </a:lnTo>
                <a:lnTo>
                  <a:pt x="1228298" y="0"/>
                </a:lnTo>
                <a:lnTo>
                  <a:pt x="1480782" y="252484"/>
                </a:lnTo>
                <a:lnTo>
                  <a:pt x="1726442" y="6824"/>
                </a:lnTo>
                <a:lnTo>
                  <a:pt x="1972102" y="252484"/>
                </a:lnTo>
                <a:lnTo>
                  <a:pt x="2122226" y="20472"/>
                </a:lnTo>
              </a:path>
            </a:pathLst>
          </a:custGeom>
          <a:noFill/>
          <a:ln w="34925" cap="flat" cmpd="sng">
            <a:solidFill>
              <a:srgbClr val="00A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1"/>
          <p:cNvSpPr/>
          <p:nvPr/>
        </p:nvSpPr>
        <p:spPr>
          <a:xfrm>
            <a:off x="1130668" y="3065167"/>
            <a:ext cx="556958" cy="75216"/>
          </a:xfrm>
          <a:custGeom>
            <a:avLst/>
            <a:gdLst/>
            <a:ahLst/>
            <a:cxnLst/>
            <a:rect l="l" t="t" r="r" b="b"/>
            <a:pathLst>
              <a:path w="2122226" h="286603" extrusionOk="0">
                <a:moveTo>
                  <a:pt x="0" y="286603"/>
                </a:moveTo>
                <a:lnTo>
                  <a:pt x="197892" y="6824"/>
                </a:lnTo>
                <a:lnTo>
                  <a:pt x="470847" y="279779"/>
                </a:lnTo>
                <a:lnTo>
                  <a:pt x="736978" y="13648"/>
                </a:lnTo>
                <a:lnTo>
                  <a:pt x="975814" y="252484"/>
                </a:lnTo>
                <a:lnTo>
                  <a:pt x="1228298" y="0"/>
                </a:lnTo>
                <a:lnTo>
                  <a:pt x="1480782" y="252484"/>
                </a:lnTo>
                <a:lnTo>
                  <a:pt x="1726442" y="6824"/>
                </a:lnTo>
                <a:lnTo>
                  <a:pt x="1972102" y="252484"/>
                </a:lnTo>
                <a:lnTo>
                  <a:pt x="2122226" y="20472"/>
                </a:lnTo>
              </a:path>
            </a:pathLst>
          </a:custGeom>
          <a:noFill/>
          <a:ln w="47625" cap="flat" cmpd="sng">
            <a:solidFill>
              <a:srgbClr val="CC5BA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1"/>
          <p:cNvSpPr/>
          <p:nvPr/>
        </p:nvSpPr>
        <p:spPr>
          <a:xfrm>
            <a:off x="3245400" y="1701670"/>
            <a:ext cx="556958" cy="75216"/>
          </a:xfrm>
          <a:custGeom>
            <a:avLst/>
            <a:gdLst/>
            <a:ahLst/>
            <a:cxnLst/>
            <a:rect l="l" t="t" r="r" b="b"/>
            <a:pathLst>
              <a:path w="2122226" h="286603" extrusionOk="0">
                <a:moveTo>
                  <a:pt x="0" y="286603"/>
                </a:moveTo>
                <a:lnTo>
                  <a:pt x="197892" y="6824"/>
                </a:lnTo>
                <a:lnTo>
                  <a:pt x="470847" y="279779"/>
                </a:lnTo>
                <a:lnTo>
                  <a:pt x="736978" y="13648"/>
                </a:lnTo>
                <a:lnTo>
                  <a:pt x="975814" y="252484"/>
                </a:lnTo>
                <a:lnTo>
                  <a:pt x="1228298" y="0"/>
                </a:lnTo>
                <a:lnTo>
                  <a:pt x="1480782" y="252484"/>
                </a:lnTo>
                <a:lnTo>
                  <a:pt x="1726442" y="6824"/>
                </a:lnTo>
                <a:lnTo>
                  <a:pt x="1972102" y="252484"/>
                </a:lnTo>
                <a:lnTo>
                  <a:pt x="2122226" y="20472"/>
                </a:lnTo>
              </a:path>
            </a:pathLst>
          </a:custGeom>
          <a:noFill/>
          <a:ln w="34925" cap="flat" cmpd="sng">
            <a:solidFill>
              <a:srgbClr val="00A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1"/>
          <p:cNvSpPr/>
          <p:nvPr/>
        </p:nvSpPr>
        <p:spPr>
          <a:xfrm>
            <a:off x="1356679" y="5404154"/>
            <a:ext cx="556958" cy="75216"/>
          </a:xfrm>
          <a:custGeom>
            <a:avLst/>
            <a:gdLst/>
            <a:ahLst/>
            <a:cxnLst/>
            <a:rect l="l" t="t" r="r" b="b"/>
            <a:pathLst>
              <a:path w="2122226" h="286603" extrusionOk="0">
                <a:moveTo>
                  <a:pt x="0" y="286603"/>
                </a:moveTo>
                <a:lnTo>
                  <a:pt x="197892" y="6824"/>
                </a:lnTo>
                <a:lnTo>
                  <a:pt x="470847" y="279779"/>
                </a:lnTo>
                <a:lnTo>
                  <a:pt x="736978" y="13648"/>
                </a:lnTo>
                <a:lnTo>
                  <a:pt x="975814" y="252484"/>
                </a:lnTo>
                <a:lnTo>
                  <a:pt x="1228298" y="0"/>
                </a:lnTo>
                <a:lnTo>
                  <a:pt x="1480782" y="252484"/>
                </a:lnTo>
                <a:lnTo>
                  <a:pt x="1726442" y="6824"/>
                </a:lnTo>
                <a:lnTo>
                  <a:pt x="1972102" y="252484"/>
                </a:lnTo>
                <a:lnTo>
                  <a:pt x="2122226" y="20472"/>
                </a:lnTo>
              </a:path>
            </a:pathLst>
          </a:custGeom>
          <a:noFill/>
          <a:ln w="47625" cap="flat" cmpd="sng">
            <a:solidFill>
              <a:srgbClr val="CC5BA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1"/>
          <p:cNvSpPr/>
          <p:nvPr/>
        </p:nvSpPr>
        <p:spPr>
          <a:xfrm rot="-2700000">
            <a:off x="2386678" y="5706960"/>
            <a:ext cx="340269" cy="340269"/>
          </a:xfrm>
          <a:prstGeom prst="rtTriangle">
            <a:avLst/>
          </a:prstGeom>
          <a:noFill/>
          <a:ln w="85725" cap="flat" cmpd="sng">
            <a:solidFill>
              <a:srgbClr val="CC5BA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1"/>
          <p:cNvSpPr/>
          <p:nvPr/>
        </p:nvSpPr>
        <p:spPr>
          <a:xfrm rot="-2700000">
            <a:off x="4710131" y="5536795"/>
            <a:ext cx="443552" cy="443552"/>
          </a:xfrm>
          <a:prstGeom prst="rtTriangle">
            <a:avLst/>
          </a:prstGeom>
          <a:noFill/>
          <a:ln w="85725" cap="flat" cmpd="sng">
            <a:solidFill>
              <a:srgbClr val="309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1"/>
          <p:cNvSpPr/>
          <p:nvPr/>
        </p:nvSpPr>
        <p:spPr>
          <a:xfrm rot="-2700000">
            <a:off x="7686638" y="5679449"/>
            <a:ext cx="284803" cy="288536"/>
          </a:xfrm>
          <a:prstGeom prst="rtTriangle">
            <a:avLst/>
          </a:prstGeom>
          <a:noFill/>
          <a:ln w="85725" cap="flat" cmpd="sng">
            <a:solidFill>
              <a:srgbClr val="309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1"/>
          <p:cNvSpPr/>
          <p:nvPr/>
        </p:nvSpPr>
        <p:spPr>
          <a:xfrm rot="-2700000">
            <a:off x="11138348" y="5702654"/>
            <a:ext cx="284803" cy="288536"/>
          </a:xfrm>
          <a:prstGeom prst="rtTriangle">
            <a:avLst/>
          </a:prstGeom>
          <a:noFill/>
          <a:ln w="85725" cap="flat" cmpd="sng">
            <a:solidFill>
              <a:srgbClr val="309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1"/>
          <p:cNvSpPr/>
          <p:nvPr/>
        </p:nvSpPr>
        <p:spPr>
          <a:xfrm rot="8100000">
            <a:off x="9141043" y="1166121"/>
            <a:ext cx="443552" cy="443552"/>
          </a:xfrm>
          <a:prstGeom prst="rtTriangle">
            <a:avLst/>
          </a:prstGeom>
          <a:noFill/>
          <a:ln w="85725" cap="flat" cmpd="sng">
            <a:solidFill>
              <a:srgbClr val="309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39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9629" y="404261"/>
            <a:ext cx="1276295" cy="195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Инфо Слайд">
  <p:cSld name="Инфо Слайд">
    <p:bg>
      <p:bgPr>
        <a:gradFill>
          <a:gsLst>
            <a:gs pos="0">
              <a:schemeClr val="lt1"/>
            </a:gs>
            <a:gs pos="38000">
              <a:srgbClr val="5DCDFF"/>
            </a:gs>
            <a:gs pos="64000">
              <a:srgbClr val="8C62FF"/>
            </a:gs>
            <a:gs pos="100000">
              <a:srgbClr val="8C62FF"/>
            </a:gs>
          </a:gsLst>
          <a:lin ang="7200000" scaled="0"/>
        </a:gra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/>
          <p:nvPr/>
        </p:nvSpPr>
        <p:spPr>
          <a:xfrm>
            <a:off x="75143" y="66438"/>
            <a:ext cx="12041715" cy="672512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2"/>
          <p:cNvSpPr txBox="1">
            <a:spLocks noGrp="1"/>
          </p:cNvSpPr>
          <p:nvPr>
            <p:ph type="body" idx="1"/>
          </p:nvPr>
        </p:nvSpPr>
        <p:spPr>
          <a:xfrm>
            <a:off x="838200" y="1202816"/>
            <a:ext cx="10515600" cy="4974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497A"/>
              </a:buClr>
              <a:buSzPts val="1800"/>
              <a:buChar char="•"/>
              <a:defRPr sz="1800">
                <a:solidFill>
                  <a:srgbClr val="00497A"/>
                </a:solidFill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97A"/>
              </a:buClr>
              <a:buSzPts val="1600"/>
              <a:buChar char="•"/>
              <a:defRPr sz="1600">
                <a:solidFill>
                  <a:srgbClr val="00497A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97A"/>
              </a:buClr>
              <a:buSzPts val="1400"/>
              <a:buChar char="•"/>
              <a:defRPr sz="1400">
                <a:solidFill>
                  <a:srgbClr val="00497A"/>
                </a:solidFill>
              </a:defRPr>
            </a:lvl3pPr>
            <a:lvl4pPr marL="1828800" lvl="3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97A"/>
              </a:buClr>
              <a:buSzPts val="1200"/>
              <a:buChar char="•"/>
              <a:defRPr sz="1200">
                <a:solidFill>
                  <a:srgbClr val="00497A"/>
                </a:solidFill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97A"/>
              </a:buClr>
              <a:buSzPts val="1200"/>
              <a:buChar char="•"/>
              <a:defRPr sz="1200">
                <a:solidFill>
                  <a:srgbClr val="00497A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497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497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00497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00497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00497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00497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00497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00497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00497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00497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00497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46" name="Google Shape;46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61578" y="230091"/>
            <a:ext cx="1565600" cy="88065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12"/>
          <p:cNvSpPr/>
          <p:nvPr/>
        </p:nvSpPr>
        <p:spPr>
          <a:xfrm rot="8100000">
            <a:off x="463203" y="707191"/>
            <a:ext cx="184546" cy="182731"/>
          </a:xfrm>
          <a:prstGeom prst="rtTriangle">
            <a:avLst/>
          </a:prstGeom>
          <a:noFill/>
          <a:ln w="41275" cap="flat" cmpd="sng">
            <a:solidFill>
              <a:srgbClr val="309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2"/>
          <p:cNvSpPr/>
          <p:nvPr/>
        </p:nvSpPr>
        <p:spPr>
          <a:xfrm rot="-8100000">
            <a:off x="247432" y="1848548"/>
            <a:ext cx="390872" cy="387030"/>
          </a:xfrm>
          <a:prstGeom prst="rtTriangle">
            <a:avLst/>
          </a:prstGeom>
          <a:noFill/>
          <a:ln w="41275" cap="flat" cmpd="sng">
            <a:solidFill>
              <a:srgbClr val="309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2"/>
          <p:cNvSpPr/>
          <p:nvPr/>
        </p:nvSpPr>
        <p:spPr>
          <a:xfrm rot="8100000">
            <a:off x="452221" y="237731"/>
            <a:ext cx="211818" cy="209736"/>
          </a:xfrm>
          <a:prstGeom prst="rtTriangle">
            <a:avLst/>
          </a:prstGeom>
          <a:noFill/>
          <a:ln w="41275" cap="flat" cmpd="sng">
            <a:solidFill>
              <a:srgbClr val="CC5BA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2"/>
          <p:cNvSpPr/>
          <p:nvPr/>
        </p:nvSpPr>
        <p:spPr>
          <a:xfrm rot="8100000">
            <a:off x="11630738" y="6109252"/>
            <a:ext cx="211818" cy="209736"/>
          </a:xfrm>
          <a:prstGeom prst="rtTriangle">
            <a:avLst/>
          </a:prstGeom>
          <a:noFill/>
          <a:ln w="41275" cap="flat" cmpd="sng">
            <a:solidFill>
              <a:srgbClr val="CC5BA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2"/>
          <p:cNvSpPr/>
          <p:nvPr/>
        </p:nvSpPr>
        <p:spPr>
          <a:xfrm rot="-2700000">
            <a:off x="640728" y="5962466"/>
            <a:ext cx="211818" cy="209736"/>
          </a:xfrm>
          <a:prstGeom prst="rtTriangle">
            <a:avLst/>
          </a:prstGeom>
          <a:noFill/>
          <a:ln w="41275" cap="flat" cmpd="sng">
            <a:solidFill>
              <a:srgbClr val="CC5BA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2"/>
          <p:cNvSpPr/>
          <p:nvPr/>
        </p:nvSpPr>
        <p:spPr>
          <a:xfrm rot="-2700000">
            <a:off x="3552592" y="6019366"/>
            <a:ext cx="276113" cy="273399"/>
          </a:xfrm>
          <a:prstGeom prst="rtTriangle">
            <a:avLst/>
          </a:prstGeom>
          <a:noFill/>
          <a:ln w="41275" cap="flat" cmpd="sng">
            <a:solidFill>
              <a:srgbClr val="309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2"/>
          <p:cNvSpPr/>
          <p:nvPr/>
        </p:nvSpPr>
        <p:spPr>
          <a:xfrm rot="-2700000">
            <a:off x="8198253" y="6158127"/>
            <a:ext cx="177291" cy="177850"/>
          </a:xfrm>
          <a:prstGeom prst="rtTriangle">
            <a:avLst/>
          </a:prstGeom>
          <a:noFill/>
          <a:ln w="41275" cap="flat" cmpd="sng">
            <a:solidFill>
              <a:srgbClr val="309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2"/>
          <p:cNvSpPr/>
          <p:nvPr/>
        </p:nvSpPr>
        <p:spPr>
          <a:xfrm rot="-2700000">
            <a:off x="11492079" y="6292570"/>
            <a:ext cx="177291" cy="177850"/>
          </a:xfrm>
          <a:prstGeom prst="rtTriangle">
            <a:avLst/>
          </a:prstGeom>
          <a:noFill/>
          <a:ln w="41275" cap="flat" cmpd="sng">
            <a:solidFill>
              <a:srgbClr val="309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8202474" cy="697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497A"/>
              </a:buClr>
              <a:buSzPts val="3200"/>
              <a:buFont typeface="Arial"/>
              <a:buNone/>
              <a:defRPr>
                <a:solidFill>
                  <a:srgbClr val="00497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6" name="Google Shape;56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30354" y="598091"/>
            <a:ext cx="1272875" cy="194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7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838200" y="1282535"/>
            <a:ext cx="10515600" cy="4894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disk.yandex.ru/d/UxJIZnfIm2xdxA" TargetMode="External"/><Relationship Id="rId3" Type="http://schemas.openxmlformats.org/officeDocument/2006/relationships/hyperlink" Target="https://github.com/itsbenzopila/drinkshop-android-coursework" TargetMode="External"/><Relationship Id="rId7" Type="http://schemas.openxmlformats.org/officeDocument/2006/relationships/hyperlink" Target="https://drive.google.com/file/d/1HwSVD2ILAI7kU7cgQDR8DitB-RN6_b7c/view?usp=drive_link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oggiorgi/MIREA/tree/main/6sem/coursework_kotlin/museflow-backend" TargetMode="External"/><Relationship Id="rId5" Type="http://schemas.openxmlformats.org/officeDocument/2006/relationships/hyperlink" Target="https://github.com/itsbenzopila/drinkshop-backend-coursework" TargetMode="External"/><Relationship Id="rId4" Type="http://schemas.openxmlformats.org/officeDocument/2006/relationships/hyperlink" Target="https://github.com/oggiorgi/MIREA/tree/main/6sem/coursework_kotlin/MuseFlow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"/>
          <p:cNvSpPr txBox="1">
            <a:spLocks noGrp="1"/>
          </p:cNvSpPr>
          <p:nvPr>
            <p:ph type="ctrTitle"/>
          </p:nvPr>
        </p:nvSpPr>
        <p:spPr>
          <a:xfrm>
            <a:off x="5493222" y="1986450"/>
            <a:ext cx="5833281" cy="2227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-RU" sz="5400" dirty="0">
                <a:solidFill>
                  <a:schemeClr val="dk1"/>
                </a:solidFill>
              </a:rPr>
              <a:t/>
            </a:r>
            <a:br>
              <a:rPr lang="ru-RU" sz="5400" dirty="0">
                <a:solidFill>
                  <a:schemeClr val="dk1"/>
                </a:solidFill>
              </a:rPr>
            </a:br>
            <a:r>
              <a:rPr lang="ru-RU" sz="5400" dirty="0">
                <a:solidFill>
                  <a:schemeClr val="dk1"/>
                </a:solidFill>
              </a:rPr>
              <a:t>Выпускная Квалификационная Работа и проект</a:t>
            </a:r>
            <a:endParaRPr dirty="0"/>
          </a:p>
        </p:txBody>
      </p:sp>
      <p:sp>
        <p:nvSpPr>
          <p:cNvPr id="62" name="Google Shape;62;p1"/>
          <p:cNvSpPr txBox="1">
            <a:spLocks noGrp="1"/>
          </p:cNvSpPr>
          <p:nvPr>
            <p:ph type="subTitle" idx="1"/>
          </p:nvPr>
        </p:nvSpPr>
        <p:spPr>
          <a:xfrm>
            <a:off x="5520518" y="4194231"/>
            <a:ext cx="5833281" cy="1052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>
              <a:spcBef>
                <a:spcPts val="0"/>
              </a:spcBef>
            </a:pPr>
            <a:r>
              <a:rPr lang="ru-RU" dirty="0"/>
              <a:t>Разработка мобильного </a:t>
            </a:r>
            <a:r>
              <a:rPr lang="ru-RU" dirty="0" smtClean="0"/>
              <a:t>приложения </a:t>
            </a:r>
            <a:r>
              <a:rPr lang="en-US" dirty="0" smtClean="0"/>
              <a:t>“</a:t>
            </a:r>
            <a:r>
              <a:rPr lang="ru-RU" dirty="0" smtClean="0"/>
              <a:t>Музыка</a:t>
            </a:r>
            <a:r>
              <a:rPr lang="en-US" dirty="0" smtClean="0"/>
              <a:t>”</a:t>
            </a:r>
            <a:r>
              <a:rPr lang="ru-RU" dirty="0" smtClean="0"/>
              <a:t> для </a:t>
            </a:r>
            <a:r>
              <a:rPr lang="ru-RU" dirty="0"/>
              <a:t>операционной системы Андроид на языке Котлин</a:t>
            </a:r>
            <a:endParaRPr dirty="0"/>
          </a:p>
        </p:txBody>
      </p:sp>
      <p:sp>
        <p:nvSpPr>
          <p:cNvPr id="63" name="Google Shape;63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30.05.2026</a:t>
            </a:r>
            <a:endParaRPr dirty="0"/>
          </a:p>
        </p:txBody>
      </p:sp>
      <p:sp>
        <p:nvSpPr>
          <p:cNvPr id="64" name="Google Shape;6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</a:t>
            </a:fld>
            <a:endParaRPr/>
          </a:p>
        </p:txBody>
      </p:sp>
      <p:sp>
        <p:nvSpPr>
          <p:cNvPr id="65" name="Google Shape;65;p1"/>
          <p:cNvSpPr txBox="1"/>
          <p:nvPr/>
        </p:nvSpPr>
        <p:spPr>
          <a:xfrm>
            <a:off x="5520518" y="5247139"/>
            <a:ext cx="583328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97A"/>
              </a:buClr>
              <a:buSzPts val="2000"/>
              <a:buFont typeface="Arial"/>
              <a:buNone/>
            </a:pPr>
            <a:r>
              <a:rPr lang="ru-RU" sz="2000" b="0" i="0" u="none" strike="noStrike" cap="none" dirty="0">
                <a:solidFill>
                  <a:srgbClr val="00497A"/>
                </a:solidFill>
                <a:latin typeface="Arial"/>
                <a:ea typeface="Arial"/>
                <a:cs typeface="Arial"/>
                <a:sym typeface="Arial"/>
              </a:rPr>
              <a:t>Представил</a:t>
            </a:r>
            <a:r>
              <a:rPr lang="en-US" sz="2000" b="0" i="0" u="none" strike="noStrike" cap="none" dirty="0" smtClean="0">
                <a:solidFill>
                  <a:srgbClr val="00497A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ru-RU" sz="2000" b="0" i="0" u="none" strike="noStrike" cap="none" dirty="0" err="1" smtClean="0">
                <a:solidFill>
                  <a:srgbClr val="00497A"/>
                </a:solidFill>
                <a:latin typeface="Arial"/>
                <a:ea typeface="Arial"/>
                <a:cs typeface="Arial"/>
                <a:sym typeface="Arial"/>
              </a:rPr>
              <a:t>Олефиров</a:t>
            </a:r>
            <a:r>
              <a:rPr lang="ru-RU" sz="2000" b="0" i="0" u="none" strike="noStrike" cap="none" dirty="0" smtClean="0">
                <a:solidFill>
                  <a:srgbClr val="00497A"/>
                </a:solidFill>
                <a:latin typeface="Arial"/>
                <a:ea typeface="Arial"/>
                <a:cs typeface="Arial"/>
                <a:sym typeface="Arial"/>
              </a:rPr>
              <a:t> Георгий, ИКБО-65-23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30</a:t>
            </a:r>
            <a:r>
              <a:rPr lang="ru-RU" dirty="0"/>
              <a:t>.0</a:t>
            </a:r>
            <a:r>
              <a:rPr lang="en-US" dirty="0"/>
              <a:t>5</a:t>
            </a:r>
            <a:r>
              <a:rPr lang="ru-RU" dirty="0"/>
              <a:t>.202</a:t>
            </a:r>
            <a:r>
              <a:rPr lang="en-US" dirty="0"/>
              <a:t>6</a:t>
            </a:r>
            <a:endParaRPr dirty="0"/>
          </a:p>
        </p:txBody>
      </p:sp>
      <p:sp>
        <p:nvSpPr>
          <p:cNvPr id="71" name="Google Shape;71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  <p:sp>
        <p:nvSpPr>
          <p:cNvPr id="72" name="Google Shape;72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8202474" cy="697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497A"/>
              </a:buClr>
              <a:buSzPts val="3200"/>
              <a:buFont typeface="Arial"/>
              <a:buNone/>
            </a:pPr>
            <a:r>
              <a:rPr lang="ru-RU" dirty="0"/>
              <a:t>Введение и Актуальность</a:t>
            </a:r>
            <a:endParaRPr dirty="0"/>
          </a:p>
        </p:txBody>
      </p:sp>
      <p:sp>
        <p:nvSpPr>
          <p:cNvPr id="74" name="Google Shape;74;p2"/>
          <p:cNvSpPr txBox="1"/>
          <p:nvPr/>
        </p:nvSpPr>
        <p:spPr>
          <a:xfrm>
            <a:off x="1283516" y="1384183"/>
            <a:ext cx="9949343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ru-RU" sz="1800" dirty="0" smtClean="0">
                <a:solidFill>
                  <a:srgbClr val="00497A"/>
                </a:solidFill>
              </a:rPr>
              <a:t>Музыка </a:t>
            </a:r>
            <a:r>
              <a:rPr lang="ru-RU" sz="1800" dirty="0">
                <a:solidFill>
                  <a:srgbClr val="00497A"/>
                </a:solidFill>
              </a:rPr>
              <a:t>сопровождает человека повсюду — в дороге, на учёбе, во время отдыха. По данным Международной федерации фонографической индустрии (IFPI), в 2024 году мировой рынок </a:t>
            </a:r>
            <a:r>
              <a:rPr lang="ru-RU" sz="1800" dirty="0" err="1">
                <a:solidFill>
                  <a:srgbClr val="00497A"/>
                </a:solidFill>
              </a:rPr>
              <a:t>стриминговой</a:t>
            </a:r>
            <a:r>
              <a:rPr lang="ru-RU" sz="1800" dirty="0">
                <a:solidFill>
                  <a:srgbClr val="00497A"/>
                </a:solidFill>
              </a:rPr>
              <a:t> музыки вырос на 10,8 %, а количество активных подписчиков музыкальных сервисов достигло 700 миллионов человек. При этом, согласно отчёту </a:t>
            </a:r>
            <a:r>
              <a:rPr lang="ru-RU" sz="1800" dirty="0" err="1">
                <a:solidFill>
                  <a:srgbClr val="00497A"/>
                </a:solidFill>
              </a:rPr>
              <a:t>Statista</a:t>
            </a:r>
            <a:r>
              <a:rPr lang="ru-RU" sz="1800" dirty="0">
                <a:solidFill>
                  <a:srgbClr val="00497A"/>
                </a:solidFill>
              </a:rPr>
              <a:t>, в 2025 году среднестатистический пользователь тратит на прослушивание музыки более 20 часов в неделю.</a:t>
            </a:r>
          </a:p>
        </p:txBody>
      </p:sp>
      <p:sp>
        <p:nvSpPr>
          <p:cNvPr id="75" name="Google Shape;75;p2"/>
          <p:cNvSpPr txBox="1"/>
          <p:nvPr/>
        </p:nvSpPr>
        <p:spPr>
          <a:xfrm>
            <a:off x="1350628" y="3459810"/>
            <a:ext cx="10003172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ru-RU" sz="1800" dirty="0">
                <a:solidFill>
                  <a:srgbClr val="00497A"/>
                </a:solidFill>
              </a:rPr>
              <a:t>Разработка бесплатного клиент-серверного </a:t>
            </a:r>
            <a:r>
              <a:rPr lang="ru-RU" sz="1800" dirty="0" err="1">
                <a:solidFill>
                  <a:srgbClr val="00497A"/>
                </a:solidFill>
              </a:rPr>
              <a:t>Android</a:t>
            </a:r>
            <a:r>
              <a:rPr lang="ru-RU" sz="1800" dirty="0">
                <a:solidFill>
                  <a:srgbClr val="00497A"/>
                </a:solidFill>
              </a:rPr>
              <a:t>-приложения «</a:t>
            </a:r>
            <a:r>
              <a:rPr lang="ru-RU" sz="1800" dirty="0" err="1">
                <a:solidFill>
                  <a:srgbClr val="00497A"/>
                </a:solidFill>
              </a:rPr>
              <a:t>MuseFlow</a:t>
            </a:r>
            <a:r>
              <a:rPr lang="ru-RU" sz="1800" dirty="0">
                <a:solidFill>
                  <a:srgbClr val="00497A"/>
                </a:solidFill>
              </a:rPr>
              <a:t>» для прослушивания музыки, управления </a:t>
            </a:r>
            <a:r>
              <a:rPr lang="ru-RU" sz="1800" dirty="0" err="1">
                <a:solidFill>
                  <a:srgbClr val="00497A"/>
                </a:solidFill>
              </a:rPr>
              <a:t>плейлистами</a:t>
            </a:r>
            <a:r>
              <a:rPr lang="ru-RU" sz="1800" dirty="0">
                <a:solidFill>
                  <a:srgbClr val="00497A"/>
                </a:solidFill>
              </a:rPr>
              <a:t> и офлайн-доступа к трекам с использованием современного стека технологий (</a:t>
            </a:r>
            <a:r>
              <a:rPr lang="ru-RU" sz="1800" dirty="0" err="1">
                <a:solidFill>
                  <a:srgbClr val="00497A"/>
                </a:solidFill>
              </a:rPr>
              <a:t>Kotlin</a:t>
            </a:r>
            <a:r>
              <a:rPr lang="ru-RU" sz="1800" dirty="0">
                <a:solidFill>
                  <a:srgbClr val="00497A"/>
                </a:solidFill>
              </a:rPr>
              <a:t>, </a:t>
            </a:r>
            <a:r>
              <a:rPr lang="ru-RU" sz="1800" dirty="0" err="1">
                <a:solidFill>
                  <a:srgbClr val="00497A"/>
                </a:solidFill>
              </a:rPr>
              <a:t>Compose</a:t>
            </a:r>
            <a:r>
              <a:rPr lang="ru-RU" sz="1800" dirty="0">
                <a:solidFill>
                  <a:srgbClr val="00497A"/>
                </a:solidFill>
              </a:rPr>
              <a:t>, </a:t>
            </a:r>
            <a:r>
              <a:rPr lang="ru-RU" sz="1800" dirty="0" err="1">
                <a:solidFill>
                  <a:srgbClr val="00497A"/>
                </a:solidFill>
              </a:rPr>
              <a:t>Ktor</a:t>
            </a:r>
            <a:r>
              <a:rPr lang="ru-RU" sz="1800" dirty="0">
                <a:solidFill>
                  <a:srgbClr val="00497A"/>
                </a:solidFill>
              </a:rPr>
              <a:t>, </a:t>
            </a:r>
            <a:r>
              <a:rPr lang="ru-RU" sz="1800" dirty="0" err="1">
                <a:solidFill>
                  <a:srgbClr val="00497A"/>
                </a:solidFill>
              </a:rPr>
              <a:t>PostgreSQL</a:t>
            </a:r>
            <a:r>
              <a:rPr lang="ru-RU" sz="1800" dirty="0">
                <a:solidFill>
                  <a:srgbClr val="00497A"/>
                </a:solidFill>
              </a:rPr>
              <a:t>).</a:t>
            </a:r>
            <a:endParaRPr sz="1800" dirty="0">
              <a:solidFill>
                <a:srgbClr val="00497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09.06.2025</a:t>
            </a:r>
            <a:endParaRPr/>
          </a:p>
        </p:txBody>
      </p:sp>
      <p:sp>
        <p:nvSpPr>
          <p:cNvPr id="81" name="Google Shape;81;p3"/>
          <p:cNvSpPr txBox="1">
            <a:spLocks noGrp="1"/>
          </p:cNvSpPr>
          <p:nvPr>
            <p:ph type="sldNum" idx="12"/>
          </p:nvPr>
        </p:nvSpPr>
        <p:spPr>
          <a:xfrm>
            <a:off x="8603100" y="66155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  <p:sp>
        <p:nvSpPr>
          <p:cNvPr id="82" name="Google Shape;8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8202474" cy="697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dirty="0" err="1"/>
              <a:t>Обзор</a:t>
            </a:r>
            <a:r>
              <a:rPr dirty="0"/>
              <a:t> </a:t>
            </a:r>
            <a:r>
              <a:rPr dirty="0" err="1"/>
              <a:t>существующих</a:t>
            </a:r>
            <a:r>
              <a:rPr dirty="0"/>
              <a:t> </a:t>
            </a:r>
            <a:r>
              <a:rPr dirty="0" err="1"/>
              <a:t>аналогов</a:t>
            </a:r>
            <a:endParaRPr dirty="0"/>
          </a:p>
        </p:txBody>
      </p:sp>
      <p:grpSp>
        <p:nvGrpSpPr>
          <p:cNvPr id="83" name="Google Shape;83;p3"/>
          <p:cNvGrpSpPr/>
          <p:nvPr/>
        </p:nvGrpSpPr>
        <p:grpSpPr>
          <a:xfrm>
            <a:off x="753832" y="1419400"/>
            <a:ext cx="2769466" cy="875654"/>
            <a:chOff x="1704547" y="1080672"/>
            <a:chExt cx="3270388" cy="697717"/>
          </a:xfrm>
        </p:grpSpPr>
        <p:sp>
          <p:nvSpPr>
            <p:cNvPr id="84" name="Google Shape;84;p3"/>
            <p:cNvSpPr/>
            <p:nvPr/>
          </p:nvSpPr>
          <p:spPr>
            <a:xfrm>
              <a:off x="1704547" y="1080672"/>
              <a:ext cx="3270388" cy="697717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17125" cap="flat" cmpd="sng">
              <a:solidFill>
                <a:srgbClr val="F9F9F9">
                  <a:alpha val="49803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3"/>
            <p:cNvSpPr txBox="1"/>
            <p:nvPr/>
          </p:nvSpPr>
          <p:spPr>
            <a:xfrm>
              <a:off x="2069323" y="1241135"/>
              <a:ext cx="2657009" cy="3310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100" b="1" dirty="0" err="1" smtClean="0">
                  <a:solidFill>
                    <a:schemeClr val="lt1"/>
                  </a:solidFill>
                </a:rPr>
                <a:t>Яндекс.Музыка</a:t>
              </a:r>
              <a:endParaRPr sz="2100" b="1" dirty="0">
                <a:solidFill>
                  <a:schemeClr val="lt1"/>
                </a:solidFill>
              </a:endParaRPr>
            </a:p>
          </p:txBody>
        </p:sp>
      </p:grpSp>
      <p:sp>
        <p:nvSpPr>
          <p:cNvPr id="87" name="Google Shape;87;p3"/>
          <p:cNvSpPr/>
          <p:nvPr/>
        </p:nvSpPr>
        <p:spPr>
          <a:xfrm>
            <a:off x="1876642" y="2477438"/>
            <a:ext cx="396446" cy="396446"/>
          </a:xfrm>
          <a:prstGeom prst="mathPlus">
            <a:avLst>
              <a:gd name="adj1" fmla="val 23520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"/>
          <p:cNvSpPr txBox="1"/>
          <p:nvPr/>
        </p:nvSpPr>
        <p:spPr>
          <a:xfrm>
            <a:off x="8342002" y="1101012"/>
            <a:ext cx="2637994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Самокат</a:t>
            </a:r>
            <a:endParaRPr sz="20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"/>
          <p:cNvSpPr txBox="1"/>
          <p:nvPr/>
        </p:nvSpPr>
        <p:spPr>
          <a:xfrm>
            <a:off x="2252926" y="2317596"/>
            <a:ext cx="2237993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sz="1600" dirty="0">
                <a:solidFill>
                  <a:srgbClr val="00497A"/>
                </a:solidFill>
              </a:rPr>
              <a:t>Хорошие </a:t>
            </a:r>
            <a:r>
              <a:rPr lang="ru-RU" dirty="0">
                <a:solidFill>
                  <a:srgbClr val="00497A"/>
                </a:solidFill>
              </a:rPr>
              <a:t>рекомендации</a:t>
            </a:r>
            <a:endParaRPr dirty="0">
              <a:solidFill>
                <a:srgbClr val="00497A"/>
              </a:solidFill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1888963" y="3125733"/>
            <a:ext cx="396446" cy="396446"/>
          </a:xfrm>
          <a:prstGeom prst="mathPlus">
            <a:avLst>
              <a:gd name="adj1" fmla="val 23520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"/>
          <p:cNvSpPr txBox="1"/>
          <p:nvPr/>
        </p:nvSpPr>
        <p:spPr>
          <a:xfrm>
            <a:off x="2247420" y="2960251"/>
            <a:ext cx="2251907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600">
                <a:solidFill>
                  <a:srgbClr val="00497A"/>
                </a:solidFill>
              </a:defRPr>
            </a:lvl1pPr>
          </a:lstStyle>
          <a:p>
            <a:r>
              <a:rPr lang="ru-RU" sz="1400" dirty="0"/>
              <a:t>Качественные персональные рекомендации</a:t>
            </a:r>
          </a:p>
        </p:txBody>
      </p:sp>
      <p:sp>
        <p:nvSpPr>
          <p:cNvPr id="96" name="Google Shape;96;p3"/>
          <p:cNvSpPr/>
          <p:nvPr/>
        </p:nvSpPr>
        <p:spPr>
          <a:xfrm>
            <a:off x="1911416" y="3697264"/>
            <a:ext cx="396446" cy="396446"/>
          </a:xfrm>
          <a:prstGeom prst="mathMinus">
            <a:avLst>
              <a:gd name="adj1" fmla="val 23520"/>
            </a:avLst>
          </a:prstGeom>
          <a:solidFill>
            <a:srgbClr val="CF35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"/>
          <p:cNvSpPr txBox="1"/>
          <p:nvPr/>
        </p:nvSpPr>
        <p:spPr>
          <a:xfrm>
            <a:off x="2254114" y="3676489"/>
            <a:ext cx="1970325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u-RU" dirty="0" smtClean="0">
                <a:solidFill>
                  <a:srgbClr val="00497A"/>
                </a:solidFill>
              </a:rPr>
              <a:t>Закрытый исходный код, нет открытого API</a:t>
            </a:r>
            <a:endParaRPr dirty="0">
              <a:solidFill>
                <a:srgbClr val="00497A"/>
              </a:solidFill>
            </a:endParaRPr>
          </a:p>
        </p:txBody>
      </p:sp>
      <p:sp>
        <p:nvSpPr>
          <p:cNvPr id="31" name="Google Shape;94;p3">
            <a:extLst>
              <a:ext uri="{FF2B5EF4-FFF2-40B4-BE49-F238E27FC236}">
                <a16:creationId xmlns:a16="http://schemas.microsoft.com/office/drawing/2014/main" id="{11C2B3A9-4DC6-40E6-93F4-D3EB902F7E78}"/>
              </a:ext>
            </a:extLst>
          </p:cNvPr>
          <p:cNvSpPr txBox="1"/>
          <p:nvPr/>
        </p:nvSpPr>
        <p:spPr>
          <a:xfrm>
            <a:off x="2254114" y="4373300"/>
            <a:ext cx="1970325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dirty="0">
                <a:solidFill>
                  <a:srgbClr val="00497A"/>
                </a:solidFill>
              </a:rPr>
              <a:t>В бесплатной версии много рекламы и ограничений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97428FE-3B40-45DC-B53F-5C052147F8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4802" y="2406326"/>
            <a:ext cx="1581956" cy="158195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sp>
        <p:nvSpPr>
          <p:cNvPr id="33" name="Google Shape;96;p3"/>
          <p:cNvSpPr/>
          <p:nvPr/>
        </p:nvSpPr>
        <p:spPr>
          <a:xfrm>
            <a:off x="1917816" y="4435887"/>
            <a:ext cx="396446" cy="396446"/>
          </a:xfrm>
          <a:prstGeom prst="mathMinus">
            <a:avLst>
              <a:gd name="adj1" fmla="val 23520"/>
            </a:avLst>
          </a:prstGeom>
          <a:solidFill>
            <a:srgbClr val="CF35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97;p3"/>
          <p:cNvSpPr txBox="1"/>
          <p:nvPr/>
        </p:nvSpPr>
        <p:spPr>
          <a:xfrm>
            <a:off x="2226282" y="5111923"/>
            <a:ext cx="2070176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dirty="0">
                <a:solidFill>
                  <a:srgbClr val="00497A"/>
                </a:solidFill>
              </a:rPr>
              <a:t>Офлайн-режим работает только при активной подписке</a:t>
            </a:r>
          </a:p>
        </p:txBody>
      </p:sp>
      <p:sp>
        <p:nvSpPr>
          <p:cNvPr id="37" name="Google Shape;96;p3"/>
          <p:cNvSpPr/>
          <p:nvPr/>
        </p:nvSpPr>
        <p:spPr>
          <a:xfrm>
            <a:off x="1901283" y="5255877"/>
            <a:ext cx="396446" cy="396446"/>
          </a:xfrm>
          <a:prstGeom prst="mathMinus">
            <a:avLst>
              <a:gd name="adj1" fmla="val 23520"/>
            </a:avLst>
          </a:prstGeom>
          <a:solidFill>
            <a:srgbClr val="CF35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87;p3"/>
          <p:cNvSpPr/>
          <p:nvPr/>
        </p:nvSpPr>
        <p:spPr>
          <a:xfrm>
            <a:off x="5699266" y="2434400"/>
            <a:ext cx="396446" cy="396446"/>
          </a:xfrm>
          <a:prstGeom prst="mathPlus">
            <a:avLst>
              <a:gd name="adj1" fmla="val 23520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92;p3"/>
          <p:cNvSpPr txBox="1"/>
          <p:nvPr/>
        </p:nvSpPr>
        <p:spPr>
          <a:xfrm>
            <a:off x="6075551" y="2274558"/>
            <a:ext cx="1923552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dirty="0">
                <a:solidFill>
                  <a:srgbClr val="00497A"/>
                </a:solidFill>
              </a:rPr>
              <a:t>Бесплатный доступ для пользователей VK </a:t>
            </a:r>
            <a:r>
              <a:rPr lang="ru-RU" dirty="0" smtClean="0">
                <a:solidFill>
                  <a:srgbClr val="00497A"/>
                </a:solidFill>
              </a:rPr>
              <a:t>но с </a:t>
            </a:r>
            <a:r>
              <a:rPr lang="ru-RU" dirty="0">
                <a:solidFill>
                  <a:srgbClr val="00497A"/>
                </a:solidFill>
              </a:rPr>
              <a:t>рекламой</a:t>
            </a:r>
          </a:p>
        </p:txBody>
      </p:sp>
      <p:sp>
        <p:nvSpPr>
          <p:cNvPr id="110" name="Google Shape;93;p3"/>
          <p:cNvSpPr/>
          <p:nvPr/>
        </p:nvSpPr>
        <p:spPr>
          <a:xfrm>
            <a:off x="5711587" y="3082695"/>
            <a:ext cx="396446" cy="396446"/>
          </a:xfrm>
          <a:prstGeom prst="mathPlus">
            <a:avLst>
              <a:gd name="adj1" fmla="val 23520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94;p3"/>
          <p:cNvSpPr txBox="1"/>
          <p:nvPr/>
        </p:nvSpPr>
        <p:spPr>
          <a:xfrm>
            <a:off x="6039834" y="3051239"/>
            <a:ext cx="211845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600">
                <a:solidFill>
                  <a:srgbClr val="00497A"/>
                </a:solidFill>
              </a:defRPr>
            </a:lvl1pPr>
          </a:lstStyle>
          <a:p>
            <a:r>
              <a:rPr lang="ru-RU" sz="1400" dirty="0"/>
              <a:t>Встроена в социальную сеть</a:t>
            </a:r>
          </a:p>
        </p:txBody>
      </p:sp>
      <p:sp>
        <p:nvSpPr>
          <p:cNvPr id="112" name="Google Shape;96;p3"/>
          <p:cNvSpPr/>
          <p:nvPr/>
        </p:nvSpPr>
        <p:spPr>
          <a:xfrm>
            <a:off x="5734040" y="3654226"/>
            <a:ext cx="396446" cy="396446"/>
          </a:xfrm>
          <a:prstGeom prst="mathMinus">
            <a:avLst>
              <a:gd name="adj1" fmla="val 23520"/>
            </a:avLst>
          </a:prstGeom>
          <a:solidFill>
            <a:srgbClr val="CF35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97;p3"/>
          <p:cNvSpPr txBox="1"/>
          <p:nvPr/>
        </p:nvSpPr>
        <p:spPr>
          <a:xfrm>
            <a:off x="6076738" y="3633451"/>
            <a:ext cx="1816743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dirty="0">
                <a:solidFill>
                  <a:srgbClr val="00497A"/>
                </a:solidFill>
              </a:rPr>
              <a:t>Загрузка треков в офлайн </a:t>
            </a:r>
            <a:r>
              <a:rPr lang="ru-RU" dirty="0" smtClean="0">
                <a:solidFill>
                  <a:srgbClr val="00497A"/>
                </a:solidFill>
              </a:rPr>
              <a:t>только </a:t>
            </a:r>
            <a:r>
              <a:rPr lang="ru-RU" dirty="0">
                <a:solidFill>
                  <a:srgbClr val="00497A"/>
                </a:solidFill>
              </a:rPr>
              <a:t>по подписке</a:t>
            </a:r>
          </a:p>
          <a:p>
            <a:pPr lvl="0"/>
            <a:endParaRPr dirty="0">
              <a:solidFill>
                <a:srgbClr val="00497A"/>
              </a:solidFill>
            </a:endParaRPr>
          </a:p>
        </p:txBody>
      </p:sp>
      <p:sp>
        <p:nvSpPr>
          <p:cNvPr id="114" name="Google Shape;94;p3">
            <a:extLst>
              <a:ext uri="{FF2B5EF4-FFF2-40B4-BE49-F238E27FC236}">
                <a16:creationId xmlns:a16="http://schemas.microsoft.com/office/drawing/2014/main" id="{11C2B3A9-4DC6-40E6-93F4-D3EB902F7E78}"/>
              </a:ext>
            </a:extLst>
          </p:cNvPr>
          <p:cNvSpPr txBox="1"/>
          <p:nvPr/>
        </p:nvSpPr>
        <p:spPr>
          <a:xfrm>
            <a:off x="6016590" y="4352525"/>
            <a:ext cx="2275150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dirty="0">
                <a:solidFill>
                  <a:srgbClr val="00497A"/>
                </a:solidFill>
              </a:rPr>
              <a:t>Интерфейс перегружен социальными элементами</a:t>
            </a:r>
          </a:p>
        </p:txBody>
      </p:sp>
      <p:pic>
        <p:nvPicPr>
          <p:cNvPr id="115" name="Picture 2">
            <a:extLst>
              <a:ext uri="{FF2B5EF4-FFF2-40B4-BE49-F238E27FC236}">
                <a16:creationId xmlns:a16="http://schemas.microsoft.com/office/drawing/2014/main" id="{C97428FE-3B40-45DC-B53F-5C052147F8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76913" y="2477438"/>
            <a:ext cx="1646995" cy="1431870"/>
          </a:xfrm>
          <a:prstGeom prst="roundRect">
            <a:avLst>
              <a:gd name="adj" fmla="val 1068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sp>
        <p:nvSpPr>
          <p:cNvPr id="116" name="Google Shape;96;p3"/>
          <p:cNvSpPr/>
          <p:nvPr/>
        </p:nvSpPr>
        <p:spPr>
          <a:xfrm>
            <a:off x="5715897" y="4415112"/>
            <a:ext cx="396446" cy="396446"/>
          </a:xfrm>
          <a:prstGeom prst="mathMinus">
            <a:avLst>
              <a:gd name="adj1" fmla="val 23520"/>
            </a:avLst>
          </a:prstGeom>
          <a:solidFill>
            <a:srgbClr val="CF35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97;p3"/>
          <p:cNvSpPr txBox="1"/>
          <p:nvPr/>
        </p:nvSpPr>
        <p:spPr>
          <a:xfrm>
            <a:off x="6014399" y="5111923"/>
            <a:ext cx="214389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dirty="0">
                <a:solidFill>
                  <a:srgbClr val="00497A"/>
                </a:solidFill>
              </a:rPr>
              <a:t>Закрытый API, нельзя написать свой клиент</a:t>
            </a:r>
          </a:p>
        </p:txBody>
      </p:sp>
      <p:sp>
        <p:nvSpPr>
          <p:cNvPr id="118" name="Google Shape;96;p3"/>
          <p:cNvSpPr/>
          <p:nvPr/>
        </p:nvSpPr>
        <p:spPr>
          <a:xfrm>
            <a:off x="5692447" y="5169064"/>
            <a:ext cx="396446" cy="396446"/>
          </a:xfrm>
          <a:prstGeom prst="mathMinus">
            <a:avLst>
              <a:gd name="adj1" fmla="val 23520"/>
            </a:avLst>
          </a:prstGeom>
          <a:solidFill>
            <a:srgbClr val="CF35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87;p3"/>
          <p:cNvSpPr/>
          <p:nvPr/>
        </p:nvSpPr>
        <p:spPr>
          <a:xfrm>
            <a:off x="9446307" y="2518245"/>
            <a:ext cx="396446" cy="396446"/>
          </a:xfrm>
          <a:prstGeom prst="mathPlus">
            <a:avLst>
              <a:gd name="adj1" fmla="val 23520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92;p3"/>
          <p:cNvSpPr txBox="1"/>
          <p:nvPr/>
        </p:nvSpPr>
        <p:spPr>
          <a:xfrm>
            <a:off x="9797180" y="2401872"/>
            <a:ext cx="236563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dirty="0">
                <a:solidFill>
                  <a:srgbClr val="00497A"/>
                </a:solidFill>
              </a:rPr>
              <a:t>Крупнейшая библиотека треков в мире</a:t>
            </a:r>
          </a:p>
        </p:txBody>
      </p:sp>
      <p:sp>
        <p:nvSpPr>
          <p:cNvPr id="121" name="Google Shape;93;p3"/>
          <p:cNvSpPr/>
          <p:nvPr/>
        </p:nvSpPr>
        <p:spPr>
          <a:xfrm>
            <a:off x="9446307" y="3082695"/>
            <a:ext cx="396446" cy="396446"/>
          </a:xfrm>
          <a:prstGeom prst="mathPlus">
            <a:avLst>
              <a:gd name="adj1" fmla="val 23520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94;p3"/>
          <p:cNvSpPr txBox="1"/>
          <p:nvPr/>
        </p:nvSpPr>
        <p:spPr>
          <a:xfrm>
            <a:off x="9804764" y="3011867"/>
            <a:ext cx="2251907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600">
                <a:solidFill>
                  <a:srgbClr val="00497A"/>
                </a:solidFill>
              </a:defRPr>
            </a:lvl1pPr>
          </a:lstStyle>
          <a:p>
            <a:r>
              <a:rPr lang="ru-RU" sz="1400" dirty="0"/>
              <a:t>Лучшие рекомендации среди всех сервисов</a:t>
            </a:r>
          </a:p>
        </p:txBody>
      </p:sp>
      <p:sp>
        <p:nvSpPr>
          <p:cNvPr id="124" name="Google Shape;97;p3"/>
          <p:cNvSpPr txBox="1"/>
          <p:nvPr/>
        </p:nvSpPr>
        <p:spPr>
          <a:xfrm>
            <a:off x="9804764" y="3490073"/>
            <a:ext cx="2128986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dirty="0">
                <a:solidFill>
                  <a:srgbClr val="00497A"/>
                </a:solidFill>
              </a:rPr>
              <a:t>Платная подписка для полноценного использования</a:t>
            </a:r>
          </a:p>
        </p:txBody>
      </p:sp>
      <p:sp>
        <p:nvSpPr>
          <p:cNvPr id="125" name="Google Shape;94;p3">
            <a:extLst>
              <a:ext uri="{FF2B5EF4-FFF2-40B4-BE49-F238E27FC236}">
                <a16:creationId xmlns:a16="http://schemas.microsoft.com/office/drawing/2014/main" id="{11C2B3A9-4DC6-40E6-93F4-D3EB902F7E78}"/>
              </a:ext>
            </a:extLst>
          </p:cNvPr>
          <p:cNvSpPr txBox="1"/>
          <p:nvPr/>
        </p:nvSpPr>
        <p:spPr>
          <a:xfrm>
            <a:off x="9816948" y="4149449"/>
            <a:ext cx="196506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dirty="0">
                <a:solidFill>
                  <a:srgbClr val="00497A"/>
                </a:solidFill>
              </a:rPr>
              <a:t>Есть бесплатный тариф с рекламой</a:t>
            </a:r>
          </a:p>
        </p:txBody>
      </p:sp>
      <p:pic>
        <p:nvPicPr>
          <p:cNvPr id="126" name="Picture 2">
            <a:extLst>
              <a:ext uri="{FF2B5EF4-FFF2-40B4-BE49-F238E27FC236}">
                <a16:creationId xmlns:a16="http://schemas.microsoft.com/office/drawing/2014/main" id="{C97428FE-3B40-45DC-B53F-5C052147F8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38546" y="2439008"/>
            <a:ext cx="1581956" cy="158195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sp>
        <p:nvSpPr>
          <p:cNvPr id="128" name="Google Shape;97;p3"/>
          <p:cNvSpPr txBox="1"/>
          <p:nvPr/>
        </p:nvSpPr>
        <p:spPr>
          <a:xfrm>
            <a:off x="9807307" y="4765980"/>
            <a:ext cx="2070176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dirty="0">
                <a:solidFill>
                  <a:srgbClr val="00497A"/>
                </a:solidFill>
              </a:rPr>
              <a:t>В России официально недоступен (нужен VPN)</a:t>
            </a:r>
          </a:p>
        </p:txBody>
      </p:sp>
      <p:sp>
        <p:nvSpPr>
          <p:cNvPr id="129" name="Google Shape;96;p3"/>
          <p:cNvSpPr/>
          <p:nvPr/>
        </p:nvSpPr>
        <p:spPr>
          <a:xfrm>
            <a:off x="9433579" y="4772639"/>
            <a:ext cx="396446" cy="396446"/>
          </a:xfrm>
          <a:prstGeom prst="mathMinus">
            <a:avLst>
              <a:gd name="adj1" fmla="val 23520"/>
            </a:avLst>
          </a:prstGeom>
          <a:solidFill>
            <a:srgbClr val="CF35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0" name="Google Shape;83;p3"/>
          <p:cNvGrpSpPr/>
          <p:nvPr/>
        </p:nvGrpSpPr>
        <p:grpSpPr>
          <a:xfrm>
            <a:off x="4087565" y="1413186"/>
            <a:ext cx="2769466" cy="959840"/>
            <a:chOff x="1704547" y="1080672"/>
            <a:chExt cx="3270388" cy="764797"/>
          </a:xfrm>
        </p:grpSpPr>
        <p:sp>
          <p:nvSpPr>
            <p:cNvPr id="131" name="Google Shape;84;p3"/>
            <p:cNvSpPr/>
            <p:nvPr/>
          </p:nvSpPr>
          <p:spPr>
            <a:xfrm>
              <a:off x="1704547" y="1080672"/>
              <a:ext cx="3270388" cy="697717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17125" cap="flat" cmpd="sng">
              <a:solidFill>
                <a:srgbClr val="F9F9F9">
                  <a:alpha val="49803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85;p3"/>
            <p:cNvSpPr txBox="1"/>
            <p:nvPr/>
          </p:nvSpPr>
          <p:spPr>
            <a:xfrm>
              <a:off x="2305372" y="1256937"/>
              <a:ext cx="2277361" cy="5885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af-ZA" sz="2100" b="1" dirty="0" smtClean="0">
                  <a:solidFill>
                    <a:schemeClr val="lt1"/>
                  </a:solidFill>
                </a:rPr>
                <a:t>VK </a:t>
              </a:r>
              <a:r>
                <a:rPr lang="ru-RU" sz="2100" b="1" dirty="0">
                  <a:solidFill>
                    <a:schemeClr val="lt1"/>
                  </a:solidFill>
                </a:rPr>
                <a:t>Музыка</a:t>
              </a:r>
            </a:p>
            <a:p>
              <a:pPr lvl="0"/>
              <a:endParaRPr sz="2100" b="1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133" name="Google Shape;83;p3"/>
          <p:cNvGrpSpPr/>
          <p:nvPr/>
        </p:nvGrpSpPr>
        <p:grpSpPr>
          <a:xfrm>
            <a:off x="8082395" y="1419400"/>
            <a:ext cx="2852757" cy="940008"/>
            <a:chOff x="1704547" y="1080672"/>
            <a:chExt cx="3368744" cy="748994"/>
          </a:xfrm>
        </p:grpSpPr>
        <p:sp>
          <p:nvSpPr>
            <p:cNvPr id="134" name="Google Shape;84;p3"/>
            <p:cNvSpPr/>
            <p:nvPr/>
          </p:nvSpPr>
          <p:spPr>
            <a:xfrm>
              <a:off x="1704547" y="1080672"/>
              <a:ext cx="3270388" cy="697717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17125" cap="flat" cmpd="sng">
              <a:solidFill>
                <a:srgbClr val="F9F9F9">
                  <a:alpha val="49803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85;p3"/>
            <p:cNvSpPr txBox="1"/>
            <p:nvPr/>
          </p:nvSpPr>
          <p:spPr>
            <a:xfrm>
              <a:off x="2541999" y="1241135"/>
              <a:ext cx="2531292" cy="5885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af-ZA" sz="2100" b="1" dirty="0" smtClean="0">
                  <a:solidFill>
                    <a:schemeClr val="lt1"/>
                  </a:solidFill>
                </a:rPr>
                <a:t>Spotify</a:t>
              </a:r>
              <a:endParaRPr lang="af-ZA" sz="2100" b="1" dirty="0">
                <a:solidFill>
                  <a:schemeClr val="lt1"/>
                </a:solidFill>
              </a:endParaRPr>
            </a:p>
            <a:p>
              <a:pPr lvl="0"/>
              <a:endParaRPr sz="2100" b="1" dirty="0">
                <a:solidFill>
                  <a:schemeClr val="lt1"/>
                </a:solidFill>
              </a:endParaRPr>
            </a:p>
          </p:txBody>
        </p:sp>
      </p:grpSp>
      <p:sp>
        <p:nvSpPr>
          <p:cNvPr id="137" name="Google Shape;93;p3"/>
          <p:cNvSpPr/>
          <p:nvPr/>
        </p:nvSpPr>
        <p:spPr>
          <a:xfrm>
            <a:off x="9386567" y="4210373"/>
            <a:ext cx="396446" cy="396446"/>
          </a:xfrm>
          <a:prstGeom prst="mathPlus">
            <a:avLst>
              <a:gd name="adj1" fmla="val 23520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97;p3"/>
          <p:cNvSpPr txBox="1"/>
          <p:nvPr/>
        </p:nvSpPr>
        <p:spPr>
          <a:xfrm>
            <a:off x="9768258" y="5501175"/>
            <a:ext cx="2709491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dirty="0">
                <a:solidFill>
                  <a:srgbClr val="00497A"/>
                </a:solidFill>
              </a:rPr>
              <a:t>Полностью закрытый исходный код</a:t>
            </a:r>
          </a:p>
        </p:txBody>
      </p:sp>
      <p:sp>
        <p:nvSpPr>
          <p:cNvPr id="139" name="Google Shape;96;p3"/>
          <p:cNvSpPr/>
          <p:nvPr/>
        </p:nvSpPr>
        <p:spPr>
          <a:xfrm>
            <a:off x="9433579" y="5507160"/>
            <a:ext cx="396446" cy="396446"/>
          </a:xfrm>
          <a:prstGeom prst="mathMinus">
            <a:avLst>
              <a:gd name="adj1" fmla="val 23520"/>
            </a:avLst>
          </a:prstGeom>
          <a:solidFill>
            <a:srgbClr val="CF35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97;p3"/>
          <p:cNvSpPr txBox="1"/>
          <p:nvPr/>
        </p:nvSpPr>
        <p:spPr>
          <a:xfrm>
            <a:off x="9768258" y="6076612"/>
            <a:ext cx="1428991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dirty="0">
                <a:solidFill>
                  <a:srgbClr val="00497A"/>
                </a:solidFill>
              </a:rPr>
              <a:t>Кроссплатформенность</a:t>
            </a:r>
          </a:p>
        </p:txBody>
      </p:sp>
      <p:sp>
        <p:nvSpPr>
          <p:cNvPr id="144" name="Google Shape;93;p3"/>
          <p:cNvSpPr/>
          <p:nvPr/>
        </p:nvSpPr>
        <p:spPr>
          <a:xfrm>
            <a:off x="9400734" y="6129527"/>
            <a:ext cx="396446" cy="396446"/>
          </a:xfrm>
          <a:prstGeom prst="mathPlus">
            <a:avLst>
              <a:gd name="adj1" fmla="val 23520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96;p3"/>
          <p:cNvSpPr/>
          <p:nvPr/>
        </p:nvSpPr>
        <p:spPr>
          <a:xfrm>
            <a:off x="9420502" y="3584999"/>
            <a:ext cx="396446" cy="396446"/>
          </a:xfrm>
          <a:prstGeom prst="mathMinus">
            <a:avLst>
              <a:gd name="adj1" fmla="val 23520"/>
            </a:avLst>
          </a:prstGeom>
          <a:solidFill>
            <a:srgbClr val="CF35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30</a:t>
            </a:r>
            <a:r>
              <a:rPr lang="ru-RU" dirty="0"/>
              <a:t>.0</a:t>
            </a:r>
            <a:r>
              <a:rPr lang="en-US" dirty="0"/>
              <a:t>5</a:t>
            </a:r>
            <a:r>
              <a:rPr lang="ru-RU" dirty="0"/>
              <a:t>.202</a:t>
            </a:r>
            <a:r>
              <a:rPr lang="en-US" dirty="0"/>
              <a:t>6</a:t>
            </a:r>
            <a:endParaRPr dirty="0"/>
          </a:p>
        </p:txBody>
      </p:sp>
      <p:sp>
        <p:nvSpPr>
          <p:cNvPr id="113" name="Google Shape;113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  <p:sp>
        <p:nvSpPr>
          <p:cNvPr id="114" name="Google Shape;11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8202474" cy="697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497A"/>
              </a:buClr>
              <a:buSzPts val="3200"/>
              <a:buFont typeface="Arial"/>
              <a:buNone/>
            </a:pPr>
            <a:r>
              <a:rPr lang="ru-RU"/>
              <a:t>Функциональные требования</a:t>
            </a:r>
            <a:endParaRPr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1" y="1109976"/>
            <a:ext cx="4337972" cy="4995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 txBox="1">
            <a:spLocks noGrp="1"/>
          </p:cNvSpPr>
          <p:nvPr>
            <p:ph type="body" idx="1"/>
          </p:nvPr>
        </p:nvSpPr>
        <p:spPr>
          <a:xfrm>
            <a:off x="965062" y="1424527"/>
            <a:ext cx="4151883" cy="226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97A"/>
              </a:buClr>
              <a:buSzPct val="100000"/>
              <a:buNone/>
            </a:pPr>
            <a:r>
              <a:rPr lang="ru-RU" dirty="0"/>
              <a:t>При разработке</a:t>
            </a:r>
            <a:r>
              <a:rPr lang="ru-RU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dirty="0">
                <a:latin typeface="Arial"/>
                <a:ea typeface="Arial"/>
                <a:cs typeface="Arial"/>
                <a:sym typeface="Arial"/>
              </a:rPr>
              <a:t>серверной части </a:t>
            </a:r>
            <a:r>
              <a:rPr lang="ru-RU" dirty="0"/>
              <a:t>проекта использовались:</a:t>
            </a:r>
            <a:endParaRPr dirty="0"/>
          </a:p>
          <a:p>
            <a:r>
              <a:rPr lang="af-ZA" dirty="0"/>
              <a:t>Kotlin + Ktor</a:t>
            </a:r>
          </a:p>
          <a:p>
            <a:r>
              <a:rPr lang="af-ZA" dirty="0"/>
              <a:t>PostgreSQL + Exposed</a:t>
            </a:r>
          </a:p>
          <a:p>
            <a:r>
              <a:rPr lang="af-ZA" dirty="0"/>
              <a:t>JWT + BCrypt</a:t>
            </a:r>
          </a:p>
          <a:p>
            <a:r>
              <a:rPr lang="af-ZA" dirty="0"/>
              <a:t>IntelliJ IDEA</a:t>
            </a:r>
          </a:p>
        </p:txBody>
      </p:sp>
      <p:sp>
        <p:nvSpPr>
          <p:cNvPr id="121" name="Google Shape;121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30</a:t>
            </a:r>
            <a:r>
              <a:rPr lang="ru-RU" dirty="0"/>
              <a:t>.0</a:t>
            </a:r>
            <a:r>
              <a:rPr lang="en-US" dirty="0"/>
              <a:t>5</a:t>
            </a:r>
            <a:r>
              <a:rPr lang="ru-RU" dirty="0"/>
              <a:t>.202</a:t>
            </a:r>
            <a:r>
              <a:rPr lang="en-US" dirty="0"/>
              <a:t>6</a:t>
            </a:r>
            <a:endParaRPr dirty="0"/>
          </a:p>
        </p:txBody>
      </p:sp>
      <p:sp>
        <p:nvSpPr>
          <p:cNvPr id="122" name="Google Shape;122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  <p:sp>
        <p:nvSpPr>
          <p:cNvPr id="123" name="Google Shape;123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8202474" cy="697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497A"/>
              </a:buClr>
              <a:buSzPts val="3200"/>
              <a:buFont typeface="Arial"/>
              <a:buNone/>
            </a:pPr>
            <a:r>
              <a:rPr lang="ru-RU"/>
              <a:t>Технологии разработки</a:t>
            </a:r>
            <a:endParaRPr/>
          </a:p>
        </p:txBody>
      </p:sp>
      <p:sp>
        <p:nvSpPr>
          <p:cNvPr id="124" name="Google Shape;124;p5"/>
          <p:cNvSpPr txBox="1"/>
          <p:nvPr/>
        </p:nvSpPr>
        <p:spPr>
          <a:xfrm>
            <a:off x="6133834" y="1424527"/>
            <a:ext cx="5135400" cy="6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97A"/>
              </a:buClr>
              <a:buSzPts val="1700"/>
              <a:buFont typeface="Arial"/>
              <a:buNone/>
            </a:pPr>
            <a:r>
              <a:rPr lang="ru-RU" sz="1800" dirty="0">
                <a:solidFill>
                  <a:srgbClr val="00497A"/>
                </a:solidFill>
                <a:sym typeface="Arial"/>
              </a:rPr>
              <a:t>При разработке</a:t>
            </a:r>
            <a:r>
              <a:rPr lang="ru-RU" sz="1800" b="1" dirty="0">
                <a:solidFill>
                  <a:srgbClr val="00497A"/>
                </a:solidFill>
                <a:sym typeface="Arial"/>
              </a:rPr>
              <a:t> </a:t>
            </a:r>
            <a:r>
              <a:rPr lang="ru-RU" sz="1800" dirty="0">
                <a:solidFill>
                  <a:srgbClr val="00497A"/>
                </a:solidFill>
                <a:sym typeface="Arial"/>
              </a:rPr>
              <a:t>клиентской части проекта использовались:</a:t>
            </a:r>
            <a:endParaRPr sz="1800" dirty="0"/>
          </a:p>
        </p:txBody>
      </p:sp>
      <p:pic>
        <p:nvPicPr>
          <p:cNvPr id="125" name="Google Shape;125;p5" descr="Picture backgroun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33785" y="5126397"/>
            <a:ext cx="2703657" cy="697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5" descr="Picture background"/>
          <p:cNvPicPr preferRelativeResize="0"/>
          <p:nvPr/>
        </p:nvPicPr>
        <p:blipFill rotWithShape="1">
          <a:blip r:embed="rId4">
            <a:alphaModFix/>
          </a:blip>
          <a:srcRect t="24938" b="27019"/>
          <a:stretch/>
        </p:blipFill>
        <p:spPr>
          <a:xfrm>
            <a:off x="2098964" y="5126397"/>
            <a:ext cx="2864868" cy="646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5" descr="Picture background"/>
          <p:cNvPicPr preferRelativeResize="0"/>
          <p:nvPr/>
        </p:nvPicPr>
        <p:blipFill rotWithShape="1">
          <a:blip r:embed="rId5">
            <a:alphaModFix/>
          </a:blip>
          <a:srcRect t="16425" b="21307"/>
          <a:stretch/>
        </p:blipFill>
        <p:spPr>
          <a:xfrm>
            <a:off x="5238321" y="5144714"/>
            <a:ext cx="1920975" cy="69771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5"/>
          <p:cNvSpPr txBox="1"/>
          <p:nvPr/>
        </p:nvSpPr>
        <p:spPr>
          <a:xfrm>
            <a:off x="6198808" y="2091037"/>
            <a:ext cx="5008883" cy="1738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Clr>
                <a:srgbClr val="00497A"/>
              </a:buClr>
              <a:buSzPts val="1700"/>
              <a:buFont typeface="Arial"/>
              <a:buChar char="•"/>
            </a:pPr>
            <a:r>
              <a:rPr lang="af-ZA" sz="1800" dirty="0">
                <a:solidFill>
                  <a:srgbClr val="00497A"/>
                </a:solidFill>
              </a:rPr>
              <a:t>Kotlin + Jetpack Compose</a:t>
            </a:r>
          </a:p>
          <a:p>
            <a:pPr marL="285750" indent="-285750">
              <a:buClr>
                <a:srgbClr val="00497A"/>
              </a:buClr>
              <a:buSzPts val="1700"/>
              <a:buFont typeface="Arial"/>
              <a:buChar char="•"/>
            </a:pPr>
            <a:r>
              <a:rPr lang="af-ZA" sz="1800" dirty="0">
                <a:solidFill>
                  <a:srgbClr val="00497A"/>
                </a:solidFill>
              </a:rPr>
              <a:t>Room + Retrofit + GSON</a:t>
            </a:r>
          </a:p>
          <a:p>
            <a:pPr marL="285750" indent="-285750">
              <a:buClr>
                <a:srgbClr val="00497A"/>
              </a:buClr>
              <a:buSzPts val="1700"/>
              <a:buFont typeface="Arial"/>
              <a:buChar char="•"/>
            </a:pPr>
            <a:r>
              <a:rPr lang="af-ZA" sz="1800" dirty="0">
                <a:solidFill>
                  <a:srgbClr val="00497A"/>
                </a:solidFill>
              </a:rPr>
              <a:t>Hilt + Coroutines + SharedPreferences</a:t>
            </a:r>
          </a:p>
          <a:p>
            <a:pPr marL="285750" indent="-285750">
              <a:buClr>
                <a:srgbClr val="00497A"/>
              </a:buClr>
              <a:buSzPts val="1700"/>
              <a:buFont typeface="Arial"/>
              <a:buChar char="•"/>
            </a:pPr>
            <a:r>
              <a:rPr lang="af-ZA" sz="1800" dirty="0">
                <a:solidFill>
                  <a:srgbClr val="00497A"/>
                </a:solidFill>
              </a:rPr>
              <a:t>ExoPlayer + Coil</a:t>
            </a:r>
          </a:p>
          <a:p>
            <a:pPr marL="285750" indent="-285750">
              <a:buClr>
                <a:srgbClr val="00497A"/>
              </a:buClr>
              <a:buSzPts val="1700"/>
              <a:buFont typeface="Arial"/>
              <a:buChar char="•"/>
            </a:pPr>
            <a:r>
              <a:rPr lang="af-ZA" sz="1800" dirty="0">
                <a:solidFill>
                  <a:srgbClr val="00497A"/>
                </a:solidFill>
              </a:rPr>
              <a:t>Android Studio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497A"/>
              </a:buClr>
              <a:buSzPts val="1700"/>
              <a:buFont typeface="Arial"/>
              <a:buChar char="•"/>
            </a:pPr>
            <a:endParaRPr sz="1700" dirty="0">
              <a:solidFill>
                <a:srgbClr val="00497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 txBox="1"/>
          <p:nvPr/>
        </p:nvSpPr>
        <p:spPr>
          <a:xfrm>
            <a:off x="8790625" y="2042225"/>
            <a:ext cx="3000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00497A"/>
              </a:buClr>
              <a:buSzPts val="1700"/>
              <a:buChar char="•"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30</a:t>
            </a:r>
            <a:r>
              <a:rPr lang="ru-RU" dirty="0"/>
              <a:t>.0</a:t>
            </a:r>
            <a:r>
              <a:rPr lang="en-US" dirty="0"/>
              <a:t>5</a:t>
            </a:r>
            <a:r>
              <a:rPr lang="ru-RU" dirty="0"/>
              <a:t>.202</a:t>
            </a:r>
            <a:r>
              <a:rPr lang="en-US" dirty="0"/>
              <a:t>6</a:t>
            </a:r>
            <a:endParaRPr dirty="0"/>
          </a:p>
        </p:txBody>
      </p:sp>
      <p:sp>
        <p:nvSpPr>
          <p:cNvPr id="137" name="Google Shape;137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  <p:sp>
        <p:nvSpPr>
          <p:cNvPr id="138" name="Google Shape;138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8202474" cy="697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497A"/>
              </a:buClr>
              <a:buSzPts val="3200"/>
              <a:buFont typeface="Arial"/>
              <a:buNone/>
            </a:pPr>
            <a:r>
              <a:rPr lang="ru-RU" dirty="0"/>
              <a:t>Архитектура клиентской части</a:t>
            </a:r>
            <a:endParaRPr dirty="0"/>
          </a:p>
        </p:txBody>
      </p:sp>
      <p:sp>
        <p:nvSpPr>
          <p:cNvPr id="140" name="Google Shape;140;p6"/>
          <p:cNvSpPr txBox="1"/>
          <p:nvPr/>
        </p:nvSpPr>
        <p:spPr>
          <a:xfrm>
            <a:off x="1013704" y="1480825"/>
            <a:ext cx="3551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497A"/>
              </a:buClr>
              <a:buSzPts val="2000"/>
              <a:buFont typeface="Arial"/>
              <a:buNone/>
            </a:pPr>
            <a:r>
              <a:rPr lang="ru-RU" sz="2000" b="1" dirty="0">
                <a:solidFill>
                  <a:srgbClr val="00497A"/>
                </a:solidFill>
                <a:latin typeface="Arial"/>
                <a:ea typeface="Arial"/>
                <a:cs typeface="Arial"/>
                <a:sym typeface="Arial"/>
              </a:rPr>
              <a:t>Основные моменты:</a:t>
            </a:r>
            <a:endParaRPr sz="2000" dirty="0">
              <a:solidFill>
                <a:srgbClr val="00497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6"/>
          <p:cNvSpPr txBox="1"/>
          <p:nvPr/>
        </p:nvSpPr>
        <p:spPr>
          <a:xfrm>
            <a:off x="1013690" y="1979289"/>
            <a:ext cx="3752400" cy="19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497A"/>
              </a:buClr>
              <a:buSzPts val="1800"/>
              <a:buFont typeface="Arial"/>
              <a:buChar char="•"/>
            </a:pPr>
            <a:r>
              <a:rPr lang="ru-RU" sz="1800" dirty="0" err="1">
                <a:solidFill>
                  <a:srgbClr val="00497A"/>
                </a:solidFill>
                <a:latin typeface="Arial"/>
                <a:ea typeface="Arial"/>
                <a:cs typeface="Arial"/>
                <a:sym typeface="Arial"/>
              </a:rPr>
              <a:t>Многомодульность</a:t>
            </a:r>
            <a:endParaRPr sz="1800" dirty="0">
              <a:solidFill>
                <a:srgbClr val="00497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497A"/>
              </a:buClr>
              <a:buSzPts val="1800"/>
              <a:buFont typeface="Arial"/>
              <a:buChar char="•"/>
            </a:pPr>
            <a:r>
              <a:rPr lang="ru-RU" sz="1800" dirty="0" err="1">
                <a:solidFill>
                  <a:srgbClr val="00497A"/>
                </a:solidFill>
                <a:latin typeface="Arial"/>
                <a:ea typeface="Arial"/>
                <a:cs typeface="Arial"/>
                <a:sym typeface="Arial"/>
              </a:rPr>
              <a:t>Clean</a:t>
            </a:r>
            <a:r>
              <a:rPr lang="ru-RU" sz="1800" dirty="0">
                <a:solidFill>
                  <a:srgbClr val="00497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800" dirty="0" err="1">
                <a:solidFill>
                  <a:srgbClr val="00497A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r>
              <a:rPr lang="ru-RU" sz="1800" dirty="0">
                <a:solidFill>
                  <a:srgbClr val="00497A"/>
                </a:solidFill>
                <a:latin typeface="Arial"/>
                <a:ea typeface="Arial"/>
                <a:cs typeface="Arial"/>
                <a:sym typeface="Arial"/>
              </a:rPr>
              <a:t> в каждом модуле </a:t>
            </a:r>
            <a:r>
              <a:rPr lang="ru-RU" sz="1800" dirty="0" err="1">
                <a:solidFill>
                  <a:srgbClr val="00497A"/>
                </a:solidFill>
                <a:latin typeface="Arial"/>
                <a:ea typeface="Arial"/>
                <a:cs typeface="Arial"/>
                <a:sym typeface="Arial"/>
              </a:rPr>
              <a:t>feature</a:t>
            </a:r>
            <a:endParaRPr dirty="0"/>
          </a:p>
          <a:p>
            <a:pPr marL="285750" marR="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497A"/>
              </a:buClr>
              <a:buSzPts val="1800"/>
              <a:buFont typeface="Arial"/>
              <a:buChar char="•"/>
            </a:pPr>
            <a:r>
              <a:rPr lang="ru-RU" sz="1800" dirty="0">
                <a:solidFill>
                  <a:srgbClr val="00497A"/>
                </a:solidFill>
                <a:latin typeface="Arial"/>
                <a:ea typeface="Arial"/>
                <a:cs typeface="Arial"/>
                <a:sym typeface="Arial"/>
              </a:rPr>
              <a:t>MVVM на </a:t>
            </a:r>
            <a:r>
              <a:rPr lang="ru-RU" sz="1800" dirty="0" err="1">
                <a:solidFill>
                  <a:srgbClr val="00497A"/>
                </a:solidFill>
                <a:latin typeface="Arial"/>
                <a:ea typeface="Arial"/>
                <a:cs typeface="Arial"/>
                <a:sym typeface="Arial"/>
              </a:rPr>
              <a:t>presentation</a:t>
            </a:r>
            <a:r>
              <a:rPr lang="ru-RU" sz="1800" dirty="0">
                <a:solidFill>
                  <a:srgbClr val="00497A"/>
                </a:solidFill>
                <a:latin typeface="Arial"/>
                <a:ea typeface="Arial"/>
                <a:cs typeface="Arial"/>
                <a:sym typeface="Arial"/>
              </a:rPr>
              <a:t> слое</a:t>
            </a:r>
            <a:endParaRPr sz="1800" dirty="0">
              <a:solidFill>
                <a:srgbClr val="00497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497A"/>
              </a:buClr>
              <a:buSzPts val="1800"/>
              <a:buFont typeface="Arial"/>
              <a:buChar char="•"/>
            </a:pPr>
            <a:r>
              <a:rPr lang="ru-RU" sz="1800" dirty="0" err="1">
                <a:solidFill>
                  <a:srgbClr val="00497A"/>
                </a:solidFill>
                <a:latin typeface="Arial"/>
                <a:ea typeface="Arial"/>
                <a:cs typeface="Arial"/>
                <a:sym typeface="Arial"/>
              </a:rPr>
              <a:t>Build-logic</a:t>
            </a:r>
            <a:r>
              <a:rPr lang="ru-RU" sz="1800" dirty="0">
                <a:solidFill>
                  <a:srgbClr val="00497A"/>
                </a:solidFill>
                <a:latin typeface="Arial"/>
                <a:ea typeface="Arial"/>
                <a:cs typeface="Arial"/>
                <a:sym typeface="Arial"/>
              </a:rPr>
              <a:t> модуль для общей конфигурации модулей</a:t>
            </a:r>
            <a:endParaRPr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0284" y="959596"/>
            <a:ext cx="5299478" cy="57618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30</a:t>
            </a:r>
            <a:r>
              <a:rPr lang="ru-RU" dirty="0"/>
              <a:t>.0</a:t>
            </a:r>
            <a:r>
              <a:rPr lang="en-US" dirty="0"/>
              <a:t>5</a:t>
            </a:r>
            <a:r>
              <a:rPr lang="ru-RU" dirty="0"/>
              <a:t>.202</a:t>
            </a:r>
            <a:r>
              <a:rPr lang="en-US" dirty="0"/>
              <a:t>6</a:t>
            </a:r>
            <a:endParaRPr dirty="0"/>
          </a:p>
        </p:txBody>
      </p:sp>
      <p:sp>
        <p:nvSpPr>
          <p:cNvPr id="147" name="Google Shape;147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  <p:sp>
        <p:nvSpPr>
          <p:cNvPr id="148" name="Google Shape;148;p7"/>
          <p:cNvSpPr txBox="1">
            <a:spLocks noGrp="1"/>
          </p:cNvSpPr>
          <p:nvPr>
            <p:ph type="title"/>
          </p:nvPr>
        </p:nvSpPr>
        <p:spPr>
          <a:xfrm>
            <a:off x="838200" y="332178"/>
            <a:ext cx="8202474" cy="697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497A"/>
              </a:buClr>
              <a:buSzPts val="3200"/>
              <a:buFont typeface="Arial"/>
              <a:buNone/>
            </a:pPr>
            <a:r>
              <a:rPr lang="ru-RU"/>
              <a:t>Модель хранения данных</a:t>
            </a:r>
            <a:endParaRPr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075" y="1540476"/>
            <a:ext cx="8139416" cy="366377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30</a:t>
            </a:r>
            <a:r>
              <a:rPr lang="ru-RU" dirty="0"/>
              <a:t>.0</a:t>
            </a:r>
            <a:r>
              <a:rPr lang="en-US" dirty="0"/>
              <a:t>5</a:t>
            </a:r>
            <a:r>
              <a:rPr lang="ru-RU" dirty="0"/>
              <a:t>.202</a:t>
            </a:r>
            <a:r>
              <a:rPr lang="en-US" dirty="0"/>
              <a:t>6</a:t>
            </a:r>
            <a:endParaRPr dirty="0"/>
          </a:p>
        </p:txBody>
      </p:sp>
      <p:sp>
        <p:nvSpPr>
          <p:cNvPr id="155" name="Google Shape;15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  <p:sp>
        <p:nvSpPr>
          <p:cNvPr id="156" name="Google Shape;156;p8"/>
          <p:cNvSpPr txBox="1">
            <a:spLocks noGrp="1"/>
          </p:cNvSpPr>
          <p:nvPr>
            <p:ph type="title"/>
          </p:nvPr>
        </p:nvSpPr>
        <p:spPr>
          <a:xfrm>
            <a:off x="838200" y="332178"/>
            <a:ext cx="8202474" cy="697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497A"/>
              </a:buClr>
              <a:buSzPts val="3200"/>
              <a:buFont typeface="Arial"/>
              <a:buNone/>
            </a:pPr>
            <a:r>
              <a:rPr lang="ru-RU"/>
              <a:t>Экраны приложения</a:t>
            </a:r>
            <a:endParaRPr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3267" y="1268792"/>
            <a:ext cx="2072267" cy="4623746"/>
          </a:xfrm>
          <a:prstGeom prst="rect">
            <a:avLst/>
          </a:prstGeom>
        </p:spPr>
      </p:pic>
      <p:pic>
        <p:nvPicPr>
          <p:cNvPr id="35" name="Рисунок 3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7934" y="1268792"/>
            <a:ext cx="2072267" cy="4623745"/>
          </a:xfrm>
          <a:prstGeom prst="rect">
            <a:avLst/>
          </a:prstGeom>
        </p:spPr>
      </p:pic>
      <p:pic>
        <p:nvPicPr>
          <p:cNvPr id="36" name="Рисунок 3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2601" y="1268792"/>
            <a:ext cx="2072267" cy="4623745"/>
          </a:xfrm>
          <a:prstGeom prst="rect">
            <a:avLst/>
          </a:prstGeom>
        </p:spPr>
      </p:pic>
      <p:pic>
        <p:nvPicPr>
          <p:cNvPr id="37" name="Рисунок 3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5436" y="1268792"/>
            <a:ext cx="2072267" cy="46237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30</a:t>
            </a:r>
            <a:r>
              <a:rPr lang="ru-RU" dirty="0"/>
              <a:t>.0</a:t>
            </a:r>
            <a:r>
              <a:rPr lang="en-US" dirty="0"/>
              <a:t>5</a:t>
            </a:r>
            <a:r>
              <a:rPr lang="ru-RU" dirty="0"/>
              <a:t>.202</a:t>
            </a:r>
            <a:r>
              <a:rPr lang="en-US" dirty="0"/>
              <a:t>6</a:t>
            </a:r>
            <a:endParaRPr dirty="0"/>
          </a:p>
        </p:txBody>
      </p:sp>
      <p:sp>
        <p:nvSpPr>
          <p:cNvPr id="163" name="Google Shape;163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  <p:sp>
        <p:nvSpPr>
          <p:cNvPr id="164" name="Google Shape;164;p9"/>
          <p:cNvSpPr txBox="1">
            <a:spLocks noGrp="1"/>
          </p:cNvSpPr>
          <p:nvPr>
            <p:ph type="title"/>
          </p:nvPr>
        </p:nvSpPr>
        <p:spPr>
          <a:xfrm>
            <a:off x="838200" y="332178"/>
            <a:ext cx="8202474" cy="697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497A"/>
              </a:buClr>
              <a:buSzPts val="3200"/>
              <a:buFont typeface="Arial"/>
              <a:buNone/>
            </a:pPr>
            <a:r>
              <a:rPr lang="ru-RU" dirty="0"/>
              <a:t>Заключение</a:t>
            </a:r>
            <a:endParaRPr dirty="0"/>
          </a:p>
        </p:txBody>
      </p:sp>
      <p:sp>
        <p:nvSpPr>
          <p:cNvPr id="165" name="Google Shape;165;p9"/>
          <p:cNvSpPr txBox="1"/>
          <p:nvPr/>
        </p:nvSpPr>
        <p:spPr>
          <a:xfrm>
            <a:off x="9069704" y="1119634"/>
            <a:ext cx="2512500" cy="5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97A"/>
              </a:buClr>
              <a:buSzPts val="2400"/>
              <a:buFont typeface="Arial"/>
              <a:buNone/>
            </a:pPr>
            <a:r>
              <a:rPr lang="ru-RU" sz="2400" b="1">
                <a:solidFill>
                  <a:srgbClr val="00497A"/>
                </a:solidFill>
                <a:latin typeface="Arial"/>
                <a:ea typeface="Arial"/>
                <a:cs typeface="Arial"/>
                <a:sym typeface="Arial"/>
              </a:rPr>
              <a:t>Исходный код</a:t>
            </a:r>
            <a:endParaRPr sz="1600">
              <a:solidFill>
                <a:srgbClr val="00497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9"/>
          <p:cNvSpPr txBox="1"/>
          <p:nvPr/>
        </p:nvSpPr>
        <p:spPr>
          <a:xfrm>
            <a:off x="9240926" y="1708275"/>
            <a:ext cx="2680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00497A"/>
                </a:solidFill>
                <a:latin typeface="Arial"/>
                <a:ea typeface="Arial"/>
                <a:cs typeface="Arial"/>
                <a:sym typeface="Arial"/>
              </a:rPr>
              <a:t>Клиентская часть</a:t>
            </a:r>
            <a:endParaRPr/>
          </a:p>
        </p:txBody>
      </p:sp>
      <p:sp>
        <p:nvSpPr>
          <p:cNvPr id="167" name="Google Shape;167;p9"/>
          <p:cNvSpPr txBox="1"/>
          <p:nvPr/>
        </p:nvSpPr>
        <p:spPr>
          <a:xfrm>
            <a:off x="9324971" y="2844967"/>
            <a:ext cx="2001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00497A"/>
                </a:solidFill>
                <a:latin typeface="Arial"/>
                <a:ea typeface="Arial"/>
                <a:cs typeface="Arial"/>
                <a:sym typeface="Arial"/>
              </a:rPr>
              <a:t>Серверная часть</a:t>
            </a:r>
            <a:endParaRPr/>
          </a:p>
        </p:txBody>
      </p:sp>
      <p:sp>
        <p:nvSpPr>
          <p:cNvPr id="168" name="Google Shape;168;p9">
            <a:hlinkClick r:id="rId3"/>
          </p:cNvPr>
          <p:cNvSpPr/>
          <p:nvPr/>
        </p:nvSpPr>
        <p:spPr>
          <a:xfrm>
            <a:off x="9324971" y="2157143"/>
            <a:ext cx="1926900" cy="535800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07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ПЕРЕЙТИ</a:t>
            </a:r>
            <a:endParaRPr dirty="0"/>
          </a:p>
        </p:txBody>
      </p:sp>
      <p:sp>
        <p:nvSpPr>
          <p:cNvPr id="169" name="Google Shape;169;p9">
            <a:hlinkClick r:id="rId5"/>
          </p:cNvPr>
          <p:cNvSpPr/>
          <p:nvPr/>
        </p:nvSpPr>
        <p:spPr>
          <a:xfrm>
            <a:off x="9324908" y="3520033"/>
            <a:ext cx="1926900" cy="535800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07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ПЕРЕЙТИ</a:t>
            </a:r>
            <a:endParaRPr dirty="0"/>
          </a:p>
        </p:txBody>
      </p:sp>
      <p:sp>
        <p:nvSpPr>
          <p:cNvPr id="170" name="Google Shape;170;p9"/>
          <p:cNvSpPr txBox="1">
            <a:spLocks noGrp="1"/>
          </p:cNvSpPr>
          <p:nvPr>
            <p:ph type="body" idx="1"/>
          </p:nvPr>
        </p:nvSpPr>
        <p:spPr>
          <a:xfrm>
            <a:off x="9241726" y="4438950"/>
            <a:ext cx="2168400" cy="5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97A"/>
              </a:buClr>
              <a:buSzPts val="2400"/>
              <a:buNone/>
            </a:pPr>
            <a:r>
              <a:rPr lang="ru-RU" sz="2400" b="1" dirty="0" err="1">
                <a:latin typeface="Arial"/>
                <a:ea typeface="Arial"/>
                <a:cs typeface="Arial"/>
                <a:sym typeface="Arial"/>
              </a:rPr>
              <a:t>Демо</a:t>
            </a:r>
            <a:r>
              <a:rPr lang="ru-RU" sz="2400" b="1" dirty="0">
                <a:latin typeface="Arial"/>
                <a:ea typeface="Arial"/>
                <a:cs typeface="Arial"/>
                <a:sym typeface="Arial"/>
              </a:rPr>
              <a:t>-видео</a:t>
            </a:r>
            <a:endParaRPr dirty="0"/>
          </a:p>
        </p:txBody>
      </p:sp>
      <p:sp>
        <p:nvSpPr>
          <p:cNvPr id="171" name="Google Shape;171;p9">
            <a:hlinkClick r:id="rId7"/>
          </p:cNvPr>
          <p:cNvSpPr/>
          <p:nvPr/>
        </p:nvSpPr>
        <p:spPr>
          <a:xfrm>
            <a:off x="9081458" y="5054315"/>
            <a:ext cx="2413800" cy="535800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07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  <a:hlinkClick r:id="rId8"/>
              </a:rPr>
              <a:t>ПОСМОТРЕТЬ</a:t>
            </a:r>
            <a:endParaRPr dirty="0"/>
          </a:p>
        </p:txBody>
      </p:sp>
      <p:sp>
        <p:nvSpPr>
          <p:cNvPr id="172" name="Google Shape;172;p9"/>
          <p:cNvSpPr txBox="1"/>
          <p:nvPr/>
        </p:nvSpPr>
        <p:spPr>
          <a:xfrm>
            <a:off x="906162" y="3665838"/>
            <a:ext cx="457933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dirty="0">
                <a:solidFill>
                  <a:srgbClr val="00497A"/>
                </a:solidFill>
                <a:latin typeface="Arial"/>
                <a:ea typeface="Arial"/>
                <a:cs typeface="Arial"/>
                <a:sym typeface="Arial"/>
              </a:rPr>
              <a:t>Планы развития</a:t>
            </a:r>
            <a:endParaRPr dirty="0"/>
          </a:p>
        </p:txBody>
      </p:sp>
      <p:sp>
        <p:nvSpPr>
          <p:cNvPr id="173" name="Google Shape;173;p9"/>
          <p:cNvSpPr txBox="1"/>
          <p:nvPr/>
        </p:nvSpPr>
        <p:spPr>
          <a:xfrm>
            <a:off x="838200" y="4438950"/>
            <a:ext cx="7473778" cy="1302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28600">
              <a:lnSpc>
                <a:spcPct val="90000"/>
              </a:lnSpc>
              <a:buClr>
                <a:srgbClr val="00497A"/>
              </a:buClr>
              <a:buSzPts val="1600"/>
              <a:buFont typeface="Arial"/>
              <a:buChar char="•"/>
            </a:pPr>
            <a:r>
              <a:rPr lang="ru-RU" sz="1600" dirty="0">
                <a:solidFill>
                  <a:srgbClr val="00497A"/>
                </a:solidFill>
              </a:rPr>
              <a:t>Рекомендательная система — автоматические подборки треков на основе истории прослушиваний и любимых жанров.</a:t>
            </a:r>
          </a:p>
          <a:p>
            <a:pPr marL="228600" indent="-228600">
              <a:lnSpc>
                <a:spcPct val="90000"/>
              </a:lnSpc>
              <a:buClr>
                <a:srgbClr val="00497A"/>
              </a:buClr>
              <a:buSzPts val="1600"/>
              <a:buFont typeface="Arial"/>
              <a:buChar char="•"/>
            </a:pPr>
            <a:r>
              <a:rPr lang="ru-RU" sz="1600" dirty="0">
                <a:solidFill>
                  <a:srgbClr val="00497A"/>
                </a:solidFill>
              </a:rPr>
              <a:t>Потоковое воспроизведение — реализация </a:t>
            </a:r>
            <a:r>
              <a:rPr lang="ru-RU" sz="1600" dirty="0" err="1">
                <a:solidFill>
                  <a:srgbClr val="00497A"/>
                </a:solidFill>
              </a:rPr>
              <a:t>стриминга</a:t>
            </a:r>
            <a:r>
              <a:rPr lang="ru-RU" sz="1600" dirty="0">
                <a:solidFill>
                  <a:srgbClr val="00497A"/>
                </a:solidFill>
              </a:rPr>
              <a:t> без предварительной загрузки всего аудиофайла.</a:t>
            </a:r>
          </a:p>
        </p:txBody>
      </p:sp>
      <p:sp>
        <p:nvSpPr>
          <p:cNvPr id="174" name="Google Shape;174;p9"/>
          <p:cNvSpPr txBox="1"/>
          <p:nvPr/>
        </p:nvSpPr>
        <p:spPr>
          <a:xfrm>
            <a:off x="906162" y="986268"/>
            <a:ext cx="7570573" cy="2533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just">
              <a:lnSpc>
                <a:spcPct val="120000"/>
              </a:lnSpc>
              <a:buClr>
                <a:srgbClr val="00497A"/>
              </a:buClr>
              <a:buSzPts val="1600"/>
            </a:pPr>
            <a:r>
              <a:rPr lang="ru-RU" sz="1600" dirty="0">
                <a:solidFill>
                  <a:srgbClr val="00497A"/>
                </a:solidFill>
              </a:rPr>
              <a:t>В ходе выполнения курсовой работы разработано клиент-серверное музыкальное приложение «</a:t>
            </a:r>
            <a:r>
              <a:rPr lang="ru-RU" sz="1600" dirty="0" err="1">
                <a:solidFill>
                  <a:srgbClr val="00497A"/>
                </a:solidFill>
              </a:rPr>
              <a:t>MuseFlow</a:t>
            </a:r>
            <a:r>
              <a:rPr lang="ru-RU" sz="1600" dirty="0">
                <a:solidFill>
                  <a:srgbClr val="00497A"/>
                </a:solidFill>
              </a:rPr>
              <a:t>». Серверная часть на </a:t>
            </a:r>
            <a:r>
              <a:rPr lang="ru-RU" sz="1600" dirty="0" err="1">
                <a:solidFill>
                  <a:srgbClr val="00497A"/>
                </a:solidFill>
              </a:rPr>
              <a:t>Ktor</a:t>
            </a:r>
            <a:r>
              <a:rPr lang="ru-RU" sz="1600" dirty="0">
                <a:solidFill>
                  <a:srgbClr val="00497A"/>
                </a:solidFill>
              </a:rPr>
              <a:t> обеспечивает JWT-аутентификацию, управление треками и </a:t>
            </a:r>
            <a:r>
              <a:rPr lang="ru-RU" sz="1600" dirty="0" err="1">
                <a:solidFill>
                  <a:srgbClr val="00497A"/>
                </a:solidFill>
              </a:rPr>
              <a:t>плейлистами</a:t>
            </a:r>
            <a:r>
              <a:rPr lang="ru-RU" sz="1600" dirty="0">
                <a:solidFill>
                  <a:srgbClr val="00497A"/>
                </a:solidFill>
              </a:rPr>
              <a:t>. Клиентская часть на </a:t>
            </a:r>
            <a:r>
              <a:rPr lang="ru-RU" sz="1600" dirty="0" err="1">
                <a:solidFill>
                  <a:srgbClr val="00497A"/>
                </a:solidFill>
              </a:rPr>
              <a:t>Jetpack</a:t>
            </a:r>
            <a:r>
              <a:rPr lang="ru-RU" sz="1600" dirty="0">
                <a:solidFill>
                  <a:srgbClr val="00497A"/>
                </a:solidFill>
              </a:rPr>
              <a:t> </a:t>
            </a:r>
            <a:r>
              <a:rPr lang="ru-RU" sz="1600" dirty="0" err="1">
                <a:solidFill>
                  <a:srgbClr val="00497A"/>
                </a:solidFill>
              </a:rPr>
              <a:t>Compose</a:t>
            </a:r>
            <a:r>
              <a:rPr lang="ru-RU" sz="1600" dirty="0">
                <a:solidFill>
                  <a:srgbClr val="00497A"/>
                </a:solidFill>
              </a:rPr>
              <a:t> предоставляет интерфейс для поиска музыки, создания </a:t>
            </a:r>
            <a:r>
              <a:rPr lang="ru-RU" sz="1600" dirty="0" err="1">
                <a:solidFill>
                  <a:srgbClr val="00497A"/>
                </a:solidFill>
              </a:rPr>
              <a:t>плейлистов</a:t>
            </a:r>
            <a:r>
              <a:rPr lang="ru-RU" sz="1600" dirty="0">
                <a:solidFill>
                  <a:srgbClr val="00497A"/>
                </a:solidFill>
              </a:rPr>
              <a:t> и воспроизведения треков с фоновым режимом. Реализованы регистрация и авторизация, каталог с поиском и историей, управление </a:t>
            </a:r>
            <a:r>
              <a:rPr lang="ru-RU" sz="1600" dirty="0" err="1">
                <a:solidFill>
                  <a:srgbClr val="00497A"/>
                </a:solidFill>
              </a:rPr>
              <a:t>плейлистами</a:t>
            </a:r>
            <a:r>
              <a:rPr lang="ru-RU" sz="1600" dirty="0">
                <a:solidFill>
                  <a:srgbClr val="00497A"/>
                </a:solidFill>
              </a:rPr>
              <a:t>, плеер на </a:t>
            </a:r>
            <a:r>
              <a:rPr lang="ru-RU" sz="1600" dirty="0" err="1">
                <a:solidFill>
                  <a:srgbClr val="00497A"/>
                </a:solidFill>
              </a:rPr>
              <a:t>ExoPlayer</a:t>
            </a:r>
            <a:r>
              <a:rPr lang="ru-RU" sz="1600" dirty="0">
                <a:solidFill>
                  <a:srgbClr val="00497A"/>
                </a:solidFill>
              </a:rPr>
              <a:t>, переключение темы, очистка кэша и офлайн-доступ через </a:t>
            </a:r>
            <a:r>
              <a:rPr lang="ru-RU" sz="1600" dirty="0" err="1">
                <a:solidFill>
                  <a:srgbClr val="00497A"/>
                </a:solidFill>
              </a:rPr>
              <a:t>Room</a:t>
            </a:r>
            <a:r>
              <a:rPr lang="ru-RU" sz="1600" dirty="0">
                <a:solidFill>
                  <a:srgbClr val="00497A"/>
                </a:solidFill>
              </a:rPr>
              <a:t>.</a:t>
            </a:r>
            <a:endParaRPr sz="1600" dirty="0">
              <a:solidFill>
                <a:srgbClr val="00497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Фиолетовый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691</TotalTime>
  <Words>415</Words>
  <Application>Microsoft Office PowerPoint</Application>
  <PresentationFormat>Широкоэкранный</PresentationFormat>
  <Paragraphs>79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Montserrat</vt:lpstr>
      <vt:lpstr>Calibri</vt:lpstr>
      <vt:lpstr>Arial</vt:lpstr>
      <vt:lpstr>Тема Office</vt:lpstr>
      <vt:lpstr> Выпускная Квалификационная Работа и проект</vt:lpstr>
      <vt:lpstr>Введение и Актуальность</vt:lpstr>
      <vt:lpstr>Обзор существующих аналогов</vt:lpstr>
      <vt:lpstr>Функциональные требования</vt:lpstr>
      <vt:lpstr>Технологии разработки</vt:lpstr>
      <vt:lpstr>Архитектура клиентской части</vt:lpstr>
      <vt:lpstr>Модель хранения данных</vt:lpstr>
      <vt:lpstr>Экраны приложения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Выпускная Квалификационная Работа и проект?</dc:title>
  <dc:creator>Roman Lesovoy</dc:creator>
  <cp:lastModifiedBy>Георгий</cp:lastModifiedBy>
  <cp:revision>29</cp:revision>
  <dcterms:created xsi:type="dcterms:W3CDTF">2020-10-18T13:39:56Z</dcterms:created>
  <dcterms:modified xsi:type="dcterms:W3CDTF">2026-06-08T14:49:12Z</dcterms:modified>
</cp:coreProperties>
</file>